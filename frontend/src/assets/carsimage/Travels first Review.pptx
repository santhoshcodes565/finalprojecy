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34" r:id="rId1"/>
  </p:sldMasterIdLst>
  <p:notesMasterIdLst>
    <p:notesMasterId r:id="rId25"/>
  </p:notesMasterIdLst>
  <p:sldIdLst>
    <p:sldId id="256" r:id="rId2"/>
    <p:sldId id="257" r:id="rId3"/>
    <p:sldId id="280" r:id="rId4"/>
    <p:sldId id="281" r:id="rId5"/>
    <p:sldId id="285" r:id="rId6"/>
    <p:sldId id="258" r:id="rId7"/>
    <p:sldId id="264" r:id="rId8"/>
    <p:sldId id="282" r:id="rId9"/>
    <p:sldId id="283" r:id="rId10"/>
    <p:sldId id="276" r:id="rId11"/>
    <p:sldId id="286" r:id="rId12"/>
    <p:sldId id="292" r:id="rId13"/>
    <p:sldId id="290" r:id="rId14"/>
    <p:sldId id="294" r:id="rId15"/>
    <p:sldId id="287" r:id="rId16"/>
    <p:sldId id="295" r:id="rId17"/>
    <p:sldId id="288" r:id="rId18"/>
    <p:sldId id="296" r:id="rId19"/>
    <p:sldId id="293" r:id="rId20"/>
    <p:sldId id="289" r:id="rId21"/>
    <p:sldId id="297" r:id="rId22"/>
    <p:sldId id="298" r:id="rId23"/>
    <p:sldId id="27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28285901"/>
      </p:ext>
    </p:extLst>
  </p:cSld>
  <p:clrMap bg1="lt1" tx1="dk1" bg2="lt2" tx2="dk2" accent1="accent1" accent2="accent2" accent3="accent3" accent4="accent4" accent5="accent5" accent6="accent6" hlink="hlink" folHlink="folHlink"/>
  <p:notesStyle>
    <a:lvl1pPr latinLnBrk="0">
      <a:defRPr>
        <a:latin typeface="+mn-lt"/>
        <a:ea typeface="+mn-ea"/>
        <a:cs typeface="+mn-cs"/>
        <a:sym typeface="Helvetica Neue"/>
      </a:defRPr>
    </a:lvl1pPr>
    <a:lvl2pPr indent="228600" latinLnBrk="0">
      <a:defRPr>
        <a:latin typeface="+mn-lt"/>
        <a:ea typeface="+mn-ea"/>
        <a:cs typeface="+mn-cs"/>
        <a:sym typeface="Helvetica Neue"/>
      </a:defRPr>
    </a:lvl2pPr>
    <a:lvl3pPr indent="457200" latinLnBrk="0">
      <a:defRPr>
        <a:latin typeface="+mn-lt"/>
        <a:ea typeface="+mn-ea"/>
        <a:cs typeface="+mn-cs"/>
        <a:sym typeface="Helvetica Neue"/>
      </a:defRPr>
    </a:lvl3pPr>
    <a:lvl4pPr indent="685800" latinLnBrk="0">
      <a:defRPr>
        <a:latin typeface="+mn-lt"/>
        <a:ea typeface="+mn-ea"/>
        <a:cs typeface="+mn-cs"/>
        <a:sym typeface="Helvetica Neue"/>
      </a:defRPr>
    </a:lvl4pPr>
    <a:lvl5pPr indent="914400" latinLnBrk="0">
      <a:defRPr>
        <a:latin typeface="+mn-lt"/>
        <a:ea typeface="+mn-ea"/>
        <a:cs typeface="+mn-cs"/>
        <a:sym typeface="Helvetica Neue"/>
      </a:defRPr>
    </a:lvl5pPr>
    <a:lvl6pPr indent="1143000" latinLnBrk="0">
      <a:defRPr>
        <a:latin typeface="+mn-lt"/>
        <a:ea typeface="+mn-ea"/>
        <a:cs typeface="+mn-cs"/>
        <a:sym typeface="Helvetica Neue"/>
      </a:defRPr>
    </a:lvl6pPr>
    <a:lvl7pPr indent="1371600" latinLnBrk="0">
      <a:defRPr>
        <a:latin typeface="+mn-lt"/>
        <a:ea typeface="+mn-ea"/>
        <a:cs typeface="+mn-cs"/>
        <a:sym typeface="Helvetica Neue"/>
      </a:defRPr>
    </a:lvl7pPr>
    <a:lvl8pPr indent="1600200" latinLnBrk="0">
      <a:defRPr>
        <a:latin typeface="+mn-lt"/>
        <a:ea typeface="+mn-ea"/>
        <a:cs typeface="+mn-cs"/>
        <a:sym typeface="Helvetica Neue"/>
      </a:defRPr>
    </a:lvl8pPr>
    <a:lvl9pPr indent="1828800" latinLnBrk="0">
      <a:defRPr>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7FC60-2BAB-E7F7-2569-009668BAA97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B7FCB13A-20C4-FCE4-279A-B0A6B39F196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5764B5C-23B1-167D-A3C7-5214AC829E8F}"/>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5" name="Footer Placeholder 4">
            <a:extLst>
              <a:ext uri="{FF2B5EF4-FFF2-40B4-BE49-F238E27FC236}">
                <a16:creationId xmlns:a16="http://schemas.microsoft.com/office/drawing/2014/main" id="{42B2F000-0893-8076-FDC9-4D5F0D6047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7348F30-2932-F3E7-88CE-6353BA25D3E3}"/>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3203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4860A-2965-FFCA-EAB1-4ED11D8C91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68B41C-E6B8-3E4A-4C0E-E9C5D66FC0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6F0B6C-9BD7-D03B-F1AA-55CE6BAAD07C}"/>
              </a:ext>
            </a:extLst>
          </p:cNvPr>
          <p:cNvSpPr>
            <a:spLocks noGrp="1"/>
          </p:cNvSpPr>
          <p:nvPr>
            <p:ph type="dt" sz="half" idx="10"/>
          </p:nvPr>
        </p:nvSpPr>
        <p:spPr/>
        <p:txBody>
          <a:bodyPr/>
          <a:lstStyle/>
          <a:p>
            <a:fld id="{70DDF080-5E8C-48AD-84E5-6C08B304C14E}" type="datetimeFigureOut">
              <a:rPr lang="en-US" smtClean="0"/>
              <a:t>4/8/2026</a:t>
            </a:fld>
            <a:endParaRPr lang="en-US" dirty="0"/>
          </a:p>
        </p:txBody>
      </p:sp>
      <p:sp>
        <p:nvSpPr>
          <p:cNvPr id="5" name="Footer Placeholder 4">
            <a:extLst>
              <a:ext uri="{FF2B5EF4-FFF2-40B4-BE49-F238E27FC236}">
                <a16:creationId xmlns:a16="http://schemas.microsoft.com/office/drawing/2014/main" id="{76542E34-37F7-4860-ECA0-DD146A64DE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506947-4B4C-F86D-9114-3EE2B2BB3CEC}"/>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130134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85F48-C677-B85E-5520-7B4A00050EF3}"/>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73324C-FBCE-9F08-6CBC-E410C65F5FE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7E316D-D66A-309A-0D7A-9BF37FDB7FF1}"/>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5" name="Footer Placeholder 4">
            <a:extLst>
              <a:ext uri="{FF2B5EF4-FFF2-40B4-BE49-F238E27FC236}">
                <a16:creationId xmlns:a16="http://schemas.microsoft.com/office/drawing/2014/main" id="{ED9BB151-73E8-CB03-5CF0-5AC5790B4E1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4113C9-2D0F-CD24-02A3-B32B79A2E464}"/>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13029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3800A-B439-DD6A-7F07-27AD095B84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AEDA65-4C12-47C3-A26A-9977C9A88F3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3FB20B-B31C-4998-9227-1807FFF51388}"/>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FE5DF8-A844-27C9-7A24-703BB9362A36}"/>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6" name="Footer Placeholder 5">
            <a:extLst>
              <a:ext uri="{FF2B5EF4-FFF2-40B4-BE49-F238E27FC236}">
                <a16:creationId xmlns:a16="http://schemas.microsoft.com/office/drawing/2014/main" id="{8F2D5BA0-5BFF-0592-61FC-2E7E625FC6F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E457370-F1B4-7C21-2871-8358DC26D30B}"/>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285843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B82B-4990-F2B3-EC01-07EBDFAFA94D}"/>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462EED-AD4C-8792-AA01-6ACF753E6D0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942EB43-4917-FC86-889A-0B22F76CE63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7B7D1C-0CC7-2B3A-81B6-08A331640BF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28D4B31-1B36-8108-71E6-A8B39B5C8EB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6DFDE1-A09F-B057-8A5C-366A65D28DA2}"/>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8" name="Footer Placeholder 7">
            <a:extLst>
              <a:ext uri="{FF2B5EF4-FFF2-40B4-BE49-F238E27FC236}">
                <a16:creationId xmlns:a16="http://schemas.microsoft.com/office/drawing/2014/main" id="{5F064C19-757C-F271-09EB-96E7154089A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26312D-0EBA-D79B-C759-C6BE8B395E6E}"/>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3623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86E2-139F-DDBC-8B6E-B77585A23B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88816E-2244-7F19-00BE-577E57ECECD3}"/>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4" name="Footer Placeholder 3">
            <a:extLst>
              <a:ext uri="{FF2B5EF4-FFF2-40B4-BE49-F238E27FC236}">
                <a16:creationId xmlns:a16="http://schemas.microsoft.com/office/drawing/2014/main" id="{22B6F743-C537-A402-A71F-C46CF610544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0461CCC-C2BB-B649-A6BD-31BA4B5475F2}"/>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4038635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C8DBAB-202D-2166-8296-F39FF7DA17C0}"/>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3" name="Footer Placeholder 2">
            <a:extLst>
              <a:ext uri="{FF2B5EF4-FFF2-40B4-BE49-F238E27FC236}">
                <a16:creationId xmlns:a16="http://schemas.microsoft.com/office/drawing/2014/main" id="{1C9D47E1-7FF7-0413-41BD-9E41AB90441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BAEC5A1-AF89-B5E5-DA4F-F079EAB79074}"/>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703459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F4921-2491-45E8-E343-C69311BCD38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4662DE-A24C-2BC2-230E-94786686F67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74C556-85BF-A346-CFD9-E827D458C49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DDFBDB6-43F2-254D-2209-97608C59AAC4}"/>
              </a:ext>
            </a:extLst>
          </p:cNvPr>
          <p:cNvSpPr>
            <a:spLocks noGrp="1"/>
          </p:cNvSpPr>
          <p:nvPr>
            <p:ph type="dt" sz="half" idx="10"/>
          </p:nvPr>
        </p:nvSpPr>
        <p:spPr/>
        <p:txBody>
          <a:bodyPr/>
          <a:lstStyle/>
          <a:p>
            <a:fld id="{70DDF080-5E8C-48AD-84E5-6C08B304C14E}" type="datetimeFigureOut">
              <a:rPr lang="en-US" smtClean="0"/>
              <a:t>4/8/2026</a:t>
            </a:fld>
            <a:endParaRPr lang="en-US" dirty="0"/>
          </a:p>
        </p:txBody>
      </p:sp>
      <p:sp>
        <p:nvSpPr>
          <p:cNvPr id="6" name="Footer Placeholder 5">
            <a:extLst>
              <a:ext uri="{FF2B5EF4-FFF2-40B4-BE49-F238E27FC236}">
                <a16:creationId xmlns:a16="http://schemas.microsoft.com/office/drawing/2014/main" id="{126531D3-E26A-B968-9B54-53D497E4E5E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C6B4840-6849-1DE0-C675-D3EEF9B29DEB}"/>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735530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95C4-176B-69CC-50F7-D296EC7C1C0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1216F6B-830B-F2AB-C830-731A8863D99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4777A34B-9594-96AB-9337-B0D42F39A97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694BE86-555B-42FE-6AA2-6CD86124A10A}"/>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6" name="Footer Placeholder 5">
            <a:extLst>
              <a:ext uri="{FF2B5EF4-FFF2-40B4-BE49-F238E27FC236}">
                <a16:creationId xmlns:a16="http://schemas.microsoft.com/office/drawing/2014/main" id="{315A6D21-2AFA-38F8-1BE6-4CD113A0940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64E7E07-B42D-1DDB-7946-E99170BB983F}"/>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007721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CCF5D-3B90-209C-485D-E04E42811D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54EFDC-73D7-53D9-A42E-64DE5A8E7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C0A21F-27F5-CCD2-643D-315E92271EA8}"/>
              </a:ext>
            </a:extLst>
          </p:cNvPr>
          <p:cNvSpPr>
            <a:spLocks noGrp="1"/>
          </p:cNvSpPr>
          <p:nvPr>
            <p:ph type="dt" sz="half" idx="10"/>
          </p:nvPr>
        </p:nvSpPr>
        <p:spPr/>
        <p:txBody>
          <a:bodyPr/>
          <a:lstStyle/>
          <a:p>
            <a:fld id="{70DDF080-5E8C-48AD-84E5-6C08B304C14E}" type="datetimeFigureOut">
              <a:rPr lang="en-US" smtClean="0"/>
              <a:t>4/8/2026</a:t>
            </a:fld>
            <a:endParaRPr lang="en-US" dirty="0"/>
          </a:p>
        </p:txBody>
      </p:sp>
      <p:sp>
        <p:nvSpPr>
          <p:cNvPr id="5" name="Footer Placeholder 4">
            <a:extLst>
              <a:ext uri="{FF2B5EF4-FFF2-40B4-BE49-F238E27FC236}">
                <a16:creationId xmlns:a16="http://schemas.microsoft.com/office/drawing/2014/main" id="{FFE2DF23-0FDA-BB06-D17F-245240FA10C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CCED7E-34D6-FFBA-804E-B0038FD339C4}"/>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501358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CE9754-5646-04F2-B423-17BD102490F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2F17F2-AB71-08E1-7A30-2197CEB1C41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231C41-9E28-BEA6-9058-02F12D40752A}"/>
              </a:ext>
            </a:extLst>
          </p:cNvPr>
          <p:cNvSpPr>
            <a:spLocks noGrp="1"/>
          </p:cNvSpPr>
          <p:nvPr>
            <p:ph type="dt" sz="half" idx="10"/>
          </p:nvPr>
        </p:nvSpPr>
        <p:spPr/>
        <p:txBody>
          <a:bodyPr/>
          <a:lstStyle/>
          <a:p>
            <a:fld id="{B61BEF0D-F0BB-DE4B-95CE-6DB70DBA9567}" type="datetimeFigureOut">
              <a:rPr lang="en-US" smtClean="0"/>
              <a:pPr/>
              <a:t>4/8/2026</a:t>
            </a:fld>
            <a:endParaRPr lang="en-US" dirty="0"/>
          </a:p>
        </p:txBody>
      </p:sp>
      <p:sp>
        <p:nvSpPr>
          <p:cNvPr id="5" name="Footer Placeholder 4">
            <a:extLst>
              <a:ext uri="{FF2B5EF4-FFF2-40B4-BE49-F238E27FC236}">
                <a16:creationId xmlns:a16="http://schemas.microsoft.com/office/drawing/2014/main" id="{1E0E44E6-0518-29FC-65C8-AC99AA7A344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70DFB00-E693-07B4-7519-8FBD30CF8FAE}"/>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945939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34580859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A99250-1C07-5A56-3D3F-49EF3E218C4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3FF737-98EC-634E-7B8A-E2BE8275FD1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540B44-1D76-D301-FDE7-751181C7C7C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61BEF0D-F0BB-DE4B-95CE-6DB70DBA9567}" type="datetimeFigureOut">
              <a:rPr lang="en-US" smtClean="0"/>
              <a:pPr/>
              <a:t>4/8/2026</a:t>
            </a:fld>
            <a:endParaRPr lang="en-US" dirty="0"/>
          </a:p>
        </p:txBody>
      </p:sp>
      <p:sp>
        <p:nvSpPr>
          <p:cNvPr id="5" name="Footer Placeholder 4">
            <a:extLst>
              <a:ext uri="{FF2B5EF4-FFF2-40B4-BE49-F238E27FC236}">
                <a16:creationId xmlns:a16="http://schemas.microsoft.com/office/drawing/2014/main" id="{55381511-3A4D-8638-FDEB-4B8A8E4A04E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0CDAB74-8E17-1CDD-A7D0-72D3A6B2C18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6CB4B4D-7CA3-9044-876B-883B54F8677D}" type="slidenum">
              <a:rPr lang="en-IN" smtClean="0"/>
              <a:t>‹#›</a:t>
            </a:fld>
            <a:endParaRPr lang="en-IN"/>
          </a:p>
        </p:txBody>
      </p:sp>
    </p:spTree>
    <p:extLst>
      <p:ext uri="{BB962C8B-B14F-4D97-AF65-F5344CB8AC3E}">
        <p14:creationId xmlns:p14="http://schemas.microsoft.com/office/powerpoint/2010/main" val="426091018"/>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 id="214748394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epartment of Information Technology…"/>
          <p:cNvSpPr txBox="1"/>
          <p:nvPr/>
        </p:nvSpPr>
        <p:spPr>
          <a:xfrm>
            <a:off x="1104900" y="1401762"/>
            <a:ext cx="6705600" cy="1138773"/>
          </a:xfrm>
          <a:prstGeom prst="rect">
            <a:avLst/>
          </a:prstGeom>
          <a:ln w="12700">
            <a:miter lim="400000"/>
          </a:ln>
        </p:spPr>
        <p:txBody>
          <a:bodyPr lIns="45719" rIns="45719">
            <a:spAutoFit/>
          </a:bodyPr>
          <a:lstStyle/>
          <a:p>
            <a:pPr algn="ct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b="1">
                <a:solidFill>
                  <a:srgbClr val="953735"/>
                </a:solidFill>
              </a:defRPr>
            </a:pPr>
            <a:r>
              <a:rPr dirty="0"/>
              <a:t>Department of </a:t>
            </a:r>
            <a:r>
              <a:rPr lang="en-US" dirty="0"/>
              <a:t>MCA</a:t>
            </a:r>
            <a:endParaRPr lang="en-IN" dirty="0"/>
          </a:p>
          <a:p>
            <a:pPr algn="ct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b="1" u="sng">
                <a:solidFill>
                  <a:srgbClr val="953735"/>
                </a:solidFill>
              </a:defRPr>
            </a:pPr>
            <a:r>
              <a:rPr lang="en-IN" dirty="0"/>
              <a:t>First Review</a:t>
            </a:r>
          </a:p>
          <a:p>
            <a:pPr algn="ct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b="1" u="sng">
                <a:solidFill>
                  <a:srgbClr val="953735"/>
                </a:solidFill>
              </a:defRPr>
            </a:pPr>
            <a:r>
              <a:rPr lang="en-US" sz="2000" dirty="0">
                <a:latin typeface="Times New Roman" panose="02020603050405020304" pitchFamily="18" charset="0"/>
                <a:ea typeface="Verdana" panose="020B0604030504040204" pitchFamily="34" charset="0"/>
              </a:rPr>
              <a:t>2</a:t>
            </a:r>
            <a:r>
              <a:rPr lang="en-US" sz="2000" dirty="0">
                <a:effectLst/>
                <a:latin typeface="Times New Roman" panose="02020603050405020304" pitchFamily="18" charset="0"/>
                <a:ea typeface="Verdana" panose="020B0604030504040204" pitchFamily="34" charset="0"/>
              </a:rPr>
              <a:t>.0</a:t>
            </a:r>
            <a:r>
              <a:rPr lang="en-US" sz="2000" dirty="0">
                <a:latin typeface="Times New Roman" panose="02020603050405020304" pitchFamily="18" charset="0"/>
                <a:ea typeface="Verdana" panose="020B0604030504040204" pitchFamily="34" charset="0"/>
              </a:rPr>
              <a:t>3</a:t>
            </a:r>
            <a:r>
              <a:rPr lang="en-US" sz="2000" dirty="0">
                <a:effectLst/>
                <a:latin typeface="Times New Roman" panose="02020603050405020304" pitchFamily="18" charset="0"/>
                <a:ea typeface="Verdana" panose="020B0604030504040204" pitchFamily="34" charset="0"/>
              </a:rPr>
              <a:t>.2026</a:t>
            </a:r>
            <a:endParaRPr sz="2000" dirty="0"/>
          </a:p>
        </p:txBody>
      </p:sp>
      <p:sp>
        <p:nvSpPr>
          <p:cNvPr id="21" name="A NOVEL TECHNIQUE ENABLING TEXT TO SPEECH SIGNAL CONVERTING SYSTEM FOR VISUALLY IMPAIRED"/>
          <p:cNvSpPr txBox="1"/>
          <p:nvPr/>
        </p:nvSpPr>
        <p:spPr>
          <a:xfrm>
            <a:off x="228600" y="2900045"/>
            <a:ext cx="8305800" cy="681355"/>
          </a:xfrm>
          <a:prstGeom prst="rect">
            <a:avLst/>
          </a:prstGeom>
          <a:ln w="12700">
            <a:miter lim="400000"/>
          </a:ln>
        </p:spPr>
        <p:txBody>
          <a:bodyPr lIns="45719" rIns="45719">
            <a:noAutofit/>
          </a:bodyPr>
          <a:lstStyle>
            <a:lvl1pPr algn="ctr">
              <a:defRPr sz="2400" b="1"/>
            </a:lvl1pPr>
          </a:lstStyle>
          <a:p>
            <a:r>
              <a:rPr lang="en-US" sz="2000" dirty="0"/>
              <a:t>TITLE</a:t>
            </a:r>
          </a:p>
          <a:p>
            <a:r>
              <a:rPr lang="en-US" dirty="0">
                <a:latin typeface="Century Schoolbook" panose="02040604050505020304" pitchFamily="18" charset="0"/>
              </a:rPr>
              <a:t>Web-Based Travel and Transport Management System</a:t>
            </a:r>
          </a:p>
        </p:txBody>
      </p:sp>
      <p:sp>
        <p:nvSpPr>
          <p:cNvPr id="22" name="Supervisor"/>
          <p:cNvSpPr txBox="1"/>
          <p:nvPr/>
        </p:nvSpPr>
        <p:spPr>
          <a:xfrm>
            <a:off x="228600" y="4572000"/>
            <a:ext cx="3048000" cy="372750"/>
          </a:xfrm>
          <a:prstGeom prst="rect">
            <a:avLst/>
          </a:prstGeom>
          <a:ln w="12700">
            <a:miter lim="400000"/>
          </a:ln>
        </p:spPr>
        <p:txBody>
          <a:bodyPr lIns="45719" rIns="45719">
            <a:spAutoFit/>
          </a:bodyPr>
          <a:lstStyle>
            <a:lvl1pPr algn="just">
              <a:lnSpc>
                <a:spcPct val="95000"/>
              </a:lnSpc>
              <a:defRPr sz="2000" b="1" u="sng"/>
            </a:lvl1pPr>
          </a:lstStyle>
          <a:p>
            <a:r>
              <a:t>Supervisor</a:t>
            </a:r>
          </a:p>
        </p:txBody>
      </p:sp>
      <p:sp>
        <p:nvSpPr>
          <p:cNvPr id="23" name="Project by,…"/>
          <p:cNvSpPr txBox="1"/>
          <p:nvPr/>
        </p:nvSpPr>
        <p:spPr>
          <a:xfrm>
            <a:off x="6062345" y="4572000"/>
            <a:ext cx="3122930" cy="950595"/>
          </a:xfrm>
          <a:prstGeom prst="rect">
            <a:avLst/>
          </a:prstGeom>
          <a:ln w="12700">
            <a:miter lim="400000"/>
          </a:ln>
        </p:spPr>
        <p:txBody>
          <a:bodyPr wrap="square" lIns="45719" rIns="45719">
            <a:noAutofit/>
          </a:bodyPr>
          <a:lstStyle/>
          <a:p>
            <a:pPr algn="just">
              <a:lnSpc>
                <a:spcPct val="95000"/>
              </a:lnSpc>
              <a:defRPr sz="2000" b="1" u="sng"/>
            </a:pPr>
            <a:r>
              <a:rPr dirty="0"/>
              <a:t>Project</a:t>
            </a:r>
            <a:r>
              <a:rPr lang="en-US" dirty="0"/>
              <a:t> by,</a:t>
            </a:r>
            <a:endParaRPr dirty="0"/>
          </a:p>
          <a:p>
            <a:pPr algn="just">
              <a:lnSpc>
                <a:spcPct val="95000"/>
              </a:lnSpc>
              <a:defRPr sz="2000" b="1" u="sng"/>
            </a:pPr>
            <a:r>
              <a:rPr lang="en-US" dirty="0"/>
              <a:t>Name :</a:t>
            </a:r>
            <a:r>
              <a:rPr lang="en-US" dirty="0" err="1"/>
              <a:t>G.Nithya</a:t>
            </a:r>
            <a:r>
              <a:rPr lang="en-US" dirty="0"/>
              <a:t> </a:t>
            </a:r>
            <a:r>
              <a:rPr lang="en-US" dirty="0" err="1"/>
              <a:t>sri</a:t>
            </a:r>
            <a:endParaRPr lang="en-US" dirty="0"/>
          </a:p>
          <a:p>
            <a:pPr algn="just">
              <a:lnSpc>
                <a:spcPct val="95000"/>
              </a:lnSpc>
              <a:defRPr sz="2000" b="1" u="sng"/>
            </a:pPr>
            <a:r>
              <a:rPr lang="en-US" dirty="0"/>
              <a:t>Reg no :2403820862222040</a:t>
            </a:r>
          </a:p>
        </p:txBody>
      </p:sp>
      <p:sp>
        <p:nvSpPr>
          <p:cNvPr id="25" name="Dr.V.Vani…"/>
          <p:cNvSpPr txBox="1"/>
          <p:nvPr/>
        </p:nvSpPr>
        <p:spPr>
          <a:xfrm>
            <a:off x="-157313" y="4962525"/>
            <a:ext cx="4077970" cy="617220"/>
          </a:xfrm>
          <a:prstGeom prst="rect">
            <a:avLst/>
          </a:prstGeom>
          <a:ln w="12700">
            <a:miter lim="400000"/>
          </a:ln>
        </p:spPr>
        <p:txBody>
          <a:bodyPr wrap="none" lIns="45719" rIns="45719">
            <a:spAutoFit/>
          </a:bodyPr>
          <a:lstStyle/>
          <a:p>
            <a:pPr algn="just">
              <a:lnSpc>
                <a:spcPct val="95000"/>
              </a:lnSpc>
              <a:defRPr b="1">
                <a:latin typeface="Arial" panose="020B0604020202020204"/>
                <a:ea typeface="Arial" panose="020B0604020202020204"/>
                <a:cs typeface="Arial" panose="020B0604020202020204"/>
                <a:sym typeface="Arial" panose="020B0604020202020204"/>
              </a:defRPr>
            </a:pPr>
            <a:r>
              <a:rPr lang="en-US" dirty="0"/>
              <a:t>     Faculty Name : S.Visalatchy</a:t>
            </a:r>
            <a:endParaRPr dirty="0"/>
          </a:p>
          <a:p>
            <a:pPr algn="just">
              <a:lnSpc>
                <a:spcPct val="95000"/>
              </a:lnSpc>
              <a:defRPr b="1">
                <a:latin typeface="Arial" panose="020B0604020202020204"/>
                <a:ea typeface="Arial" panose="020B0604020202020204"/>
                <a:cs typeface="Arial" panose="020B0604020202020204"/>
                <a:sym typeface="Arial" panose="020B0604020202020204"/>
              </a:defRPr>
            </a:pPr>
            <a:r>
              <a:rPr lang="en-US" dirty="0"/>
              <a:t>     Designation : Assistant Professor</a:t>
            </a:r>
            <a:endParaRPr dirty="0"/>
          </a:p>
        </p:txBody>
      </p:sp>
      <p:cxnSp>
        <p:nvCxnSpPr>
          <p:cNvPr id="9" name="AutoShape 2"/>
          <p:cNvCxnSpPr>
            <a:cxnSpLocks noChangeShapeType="1"/>
          </p:cNvCxnSpPr>
          <p:nvPr/>
        </p:nvCxnSpPr>
        <p:spPr bwMode="auto">
          <a:xfrm>
            <a:off x="759655" y="1214209"/>
            <a:ext cx="7386928" cy="0"/>
          </a:xfrm>
          <a:prstGeom prst="straightConnector1">
            <a:avLst/>
          </a:prstGeom>
          <a:noFill/>
          <a:ln w="25400">
            <a:solidFill>
              <a:srgbClr val="000000"/>
            </a:solidFill>
            <a:round/>
          </a:ln>
          <a:extLst>
            <a:ext uri="{909E8E84-426E-40DD-AFC4-6F175D3DCCD1}">
              <a14:hiddenFill xmlns:a14="http://schemas.microsoft.com/office/drawing/2010/main">
                <a:noFill/>
              </a14:hiddenFill>
            </a:ext>
          </a:extLst>
        </p:spPr>
      </p:cxnSp>
      <p:sp>
        <p:nvSpPr>
          <p:cNvPr id="2" name="Rectangle 3"/>
          <p:cNvSpPr>
            <a:spLocks noChangeArrowheads="1"/>
          </p:cNvSpPr>
          <p:nvPr/>
        </p:nvSpPr>
        <p:spPr bwMode="auto">
          <a:xfrm>
            <a:off x="41275" y="-9254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3" name="Rectangle 4"/>
          <p:cNvSpPr>
            <a:spLocks noChangeArrowheads="1"/>
          </p:cNvSpPr>
          <p:nvPr/>
        </p:nvSpPr>
        <p:spPr bwMode="auto">
          <a:xfrm>
            <a:off x="1127125" y="374892"/>
            <a:ext cx="6972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ctr" eaLnBrk="0" fontAlgn="base">
              <a:spcBef>
                <a:spcPct val="0"/>
              </a:spcBef>
              <a:spcAft>
                <a:spcPct val="0"/>
              </a:spcAft>
            </a:pPr>
            <a:r>
              <a:rPr lang="en-US" altLang="en-US" b="1" dirty="0">
                <a:solidFill>
                  <a:schemeClr val="tx1"/>
                </a:solidFill>
                <a:latin typeface="Calibri" panose="020F0502020204030204" pitchFamily="34" charset="0"/>
                <a:cs typeface="Times New Roman" panose="02020603050405020304" pitchFamily="18" charset="0"/>
              </a:rPr>
              <a:t>   </a:t>
            </a:r>
            <a:r>
              <a:rPr lang="en-US" altLang="en-US" b="1" dirty="0">
                <a:solidFill>
                  <a:schemeClr val="tx1"/>
                </a:solidFill>
                <a:latin typeface="Times New Roman" panose="02020603050405020304" pitchFamily="18" charset="0"/>
                <a:cs typeface="Times New Roman" panose="02020603050405020304" pitchFamily="18" charset="0"/>
              </a:rPr>
              <a:t>E. G. S. PILLAY ENGINEERING (AUTONOMOUS) COLLEGE</a:t>
            </a:r>
          </a:p>
        </p:txBody>
      </p:sp>
      <p:sp>
        <p:nvSpPr>
          <p:cNvPr id="4" name="Rectangle 5"/>
          <p:cNvSpPr>
            <a:spLocks noChangeArrowheads="1"/>
          </p:cNvSpPr>
          <p:nvPr/>
        </p:nvSpPr>
        <p:spPr bwMode="auto">
          <a:xfrm>
            <a:off x="2528721" y="688334"/>
            <a:ext cx="32367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NAGAPATTINAM - 611002</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88313" y="73569"/>
            <a:ext cx="916587" cy="946019"/>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p:cNvGrpSpPr/>
          <p:nvPr/>
        </p:nvGrpSpPr>
        <p:grpSpPr>
          <a:xfrm>
            <a:off x="6324600" y="0"/>
            <a:ext cx="2819400" cy="533400"/>
            <a:chOff x="0" y="0"/>
            <a:chExt cx="2819400" cy="533400"/>
          </a:xfrm>
        </p:grpSpPr>
        <p:sp>
          <p:nvSpPr>
            <p:cNvPr id="27" name="Rectangle"/>
            <p:cNvSpPr/>
            <p:nvPr/>
          </p:nvSpPr>
          <p:spPr>
            <a:xfrm>
              <a:off x="0" y="0"/>
              <a:ext cx="2819400" cy="5334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28" name="OUTLINE"/>
            <p:cNvSpPr txBox="1"/>
            <p:nvPr/>
          </p:nvSpPr>
          <p:spPr>
            <a:xfrm>
              <a:off x="0" y="5091"/>
              <a:ext cx="28194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US" dirty="0"/>
                <a:t>CONTENTS</a:t>
              </a:r>
              <a:endParaRPr dirty="0"/>
            </a:p>
          </p:txBody>
        </p:sp>
      </p:grpSp>
      <p:sp>
        <p:nvSpPr>
          <p:cNvPr id="30" name="Abstract…"/>
          <p:cNvSpPr txBox="1"/>
          <p:nvPr/>
        </p:nvSpPr>
        <p:spPr>
          <a:xfrm>
            <a:off x="540532" y="667373"/>
            <a:ext cx="6858001" cy="4247317"/>
          </a:xfrm>
          <a:prstGeom prst="rect">
            <a:avLst/>
          </a:prstGeom>
          <a:ln w="12700">
            <a:miter lim="400000"/>
          </a:ln>
        </p:spPr>
        <p:txBody>
          <a:bodyPr lIns="45719" rIns="45719">
            <a:spAutoFit/>
          </a:bodyPr>
          <a:lstStyle/>
          <a:p>
            <a:pPr algn="just">
              <a:lnSpc>
                <a:spcPct val="150000"/>
              </a:lnSpc>
              <a:buClr>
                <a:srgbClr val="920000"/>
              </a:buClr>
              <a:buSzPct val="100000"/>
              <a:defRPr sz="2400">
                <a:solidFill>
                  <a:srgbClr val="0D0D0D"/>
                </a:solidFill>
              </a:defRPr>
            </a:pPr>
            <a:endParaRPr lang="en-US" sz="2000" dirty="0"/>
          </a:p>
          <a:p>
            <a:pPr algn="just">
              <a:lnSpc>
                <a:spcPct val="150000"/>
              </a:lnSpc>
              <a:buClr>
                <a:srgbClr val="920000"/>
              </a:buClr>
              <a:buSzPct val="100000"/>
              <a:buChar char="❖"/>
              <a:defRPr sz="2400">
                <a:solidFill>
                  <a:srgbClr val="0D0D0D"/>
                </a:solidFill>
              </a:defRPr>
            </a:pPr>
            <a:r>
              <a:rPr lang="en-US" sz="2000" dirty="0"/>
              <a:t>Abstract</a:t>
            </a:r>
          </a:p>
          <a:p>
            <a:pPr algn="just">
              <a:lnSpc>
                <a:spcPct val="150000"/>
              </a:lnSpc>
              <a:buClr>
                <a:srgbClr val="920000"/>
              </a:buClr>
              <a:buSzPct val="100000"/>
              <a:buChar char="❖"/>
              <a:defRPr sz="2400">
                <a:solidFill>
                  <a:srgbClr val="0D0D0D"/>
                </a:solidFill>
              </a:defRPr>
            </a:pPr>
            <a:r>
              <a:rPr lang="en-US" sz="2000" dirty="0"/>
              <a:t>Introduction</a:t>
            </a:r>
            <a:endParaRPr sz="2000" dirty="0"/>
          </a:p>
          <a:p>
            <a:pPr algn="just">
              <a:lnSpc>
                <a:spcPct val="150000"/>
              </a:lnSpc>
              <a:buClr>
                <a:srgbClr val="920000"/>
              </a:buClr>
              <a:buSzPct val="100000"/>
              <a:buChar char="❖"/>
              <a:defRPr sz="2400">
                <a:solidFill>
                  <a:srgbClr val="0D0D0D"/>
                </a:solidFill>
              </a:defRPr>
            </a:pPr>
            <a:r>
              <a:rPr sz="2000" dirty="0"/>
              <a:t>Literature survey</a:t>
            </a:r>
            <a:endParaRPr lang="en-US" sz="2000" dirty="0"/>
          </a:p>
          <a:p>
            <a:pPr algn="just">
              <a:lnSpc>
                <a:spcPct val="150000"/>
              </a:lnSpc>
              <a:buClr>
                <a:srgbClr val="920000"/>
              </a:buClr>
              <a:buSzPct val="100000"/>
              <a:buChar char="❖"/>
              <a:defRPr sz="2400">
                <a:solidFill>
                  <a:srgbClr val="0D0D0D"/>
                </a:solidFill>
              </a:defRPr>
            </a:pPr>
            <a:r>
              <a:rPr lang="en-US" sz="2000" dirty="0"/>
              <a:t>O</a:t>
            </a:r>
            <a:r>
              <a:rPr lang="en-IN" sz="2000" dirty="0" err="1"/>
              <a:t>bjectives</a:t>
            </a:r>
            <a:endParaRPr sz="2000" dirty="0"/>
          </a:p>
          <a:p>
            <a:pPr algn="just">
              <a:lnSpc>
                <a:spcPct val="150000"/>
              </a:lnSpc>
              <a:buClr>
                <a:srgbClr val="920000"/>
              </a:buClr>
              <a:buSzPct val="100000"/>
              <a:buChar char="❖"/>
              <a:defRPr sz="2400">
                <a:solidFill>
                  <a:srgbClr val="0D0D0D"/>
                </a:solidFill>
              </a:defRPr>
            </a:pPr>
            <a:r>
              <a:rPr sz="2000" dirty="0"/>
              <a:t>Existing System Limitations</a:t>
            </a:r>
            <a:endParaRPr lang="en-US" sz="2000" dirty="0"/>
          </a:p>
          <a:p>
            <a:pPr algn="just">
              <a:lnSpc>
                <a:spcPct val="150000"/>
              </a:lnSpc>
              <a:buClr>
                <a:srgbClr val="920000"/>
              </a:buClr>
              <a:buSzPct val="100000"/>
              <a:buChar char="❖"/>
              <a:defRPr sz="2400">
                <a:solidFill>
                  <a:srgbClr val="0D0D0D"/>
                </a:solidFill>
              </a:defRPr>
            </a:pPr>
            <a:r>
              <a:rPr lang="en-IN" sz="2000" dirty="0"/>
              <a:t>Proposed System</a:t>
            </a:r>
          </a:p>
          <a:p>
            <a:pPr algn="just">
              <a:lnSpc>
                <a:spcPct val="150000"/>
              </a:lnSpc>
              <a:buClr>
                <a:srgbClr val="920000"/>
              </a:buClr>
              <a:buSzPct val="100000"/>
              <a:buChar char="❖"/>
              <a:defRPr sz="2400">
                <a:solidFill>
                  <a:srgbClr val="0D0D0D"/>
                </a:solidFill>
              </a:defRPr>
            </a:pPr>
            <a:r>
              <a:rPr lang="en-IN" sz="2000" dirty="0"/>
              <a:t>System Architecture</a:t>
            </a:r>
            <a:endParaRPr sz="2000" dirty="0"/>
          </a:p>
          <a:p>
            <a:pPr algn="just">
              <a:lnSpc>
                <a:spcPct val="150000"/>
              </a:lnSpc>
              <a:buClr>
                <a:srgbClr val="920000"/>
              </a:buClr>
              <a:buSzPct val="100000"/>
              <a:buChar char="❖"/>
              <a:defRPr sz="2400">
                <a:solidFill>
                  <a:srgbClr val="0D0D0D"/>
                </a:solidFill>
              </a:defRPr>
            </a:pPr>
            <a:r>
              <a:rPr sz="2000" dirty="0"/>
              <a:t>References</a:t>
            </a:r>
          </a:p>
        </p:txBody>
      </p:sp>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p:cNvGrpSpPr/>
          <p:nvPr/>
        </p:nvGrpSpPr>
        <p:grpSpPr>
          <a:xfrm>
            <a:off x="6324600" y="0"/>
            <a:ext cx="2819400" cy="533400"/>
            <a:chOff x="0" y="0"/>
            <a:chExt cx="2819400" cy="533400"/>
          </a:xfrm>
        </p:grpSpPr>
        <p:sp>
          <p:nvSpPr>
            <p:cNvPr id="27" name="Rectangle"/>
            <p:cNvSpPr/>
            <p:nvPr/>
          </p:nvSpPr>
          <p:spPr>
            <a:xfrm>
              <a:off x="0" y="0"/>
              <a:ext cx="2819400" cy="5334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28" name="OUTLINE"/>
            <p:cNvSpPr txBox="1"/>
            <p:nvPr/>
          </p:nvSpPr>
          <p:spPr>
            <a:xfrm>
              <a:off x="0" y="5091"/>
              <a:ext cx="28194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US" dirty="0"/>
                <a:t>ABSTRACT</a:t>
              </a:r>
              <a:endParaRPr dirty="0"/>
            </a:p>
          </p:txBody>
        </p:sp>
      </p:grpSp>
      <p:sp>
        <p:nvSpPr>
          <p:cNvPr id="30" name="Abstract…"/>
          <p:cNvSpPr txBox="1"/>
          <p:nvPr/>
        </p:nvSpPr>
        <p:spPr>
          <a:xfrm>
            <a:off x="643546" y="890415"/>
            <a:ext cx="7737987" cy="7106048"/>
          </a:xfrm>
          <a:prstGeom prst="rect">
            <a:avLst/>
          </a:prstGeom>
          <a:ln w="12700">
            <a:miter lim="400000"/>
          </a:ln>
        </p:spPr>
        <p:txBody>
          <a:bodyPr wrap="square" lIns="45719" rIns="45719">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 Travels Website is a full-stack web application designed to provide an efficient and user-friendly </a:t>
            </a:r>
            <a:r>
              <a:rPr lang="en-US" b="1" dirty="0">
                <a:latin typeface="Times New Roman" panose="02020603050405020304" pitchFamily="18" charset="0"/>
                <a:cs typeface="Times New Roman" panose="02020603050405020304" pitchFamily="18" charset="0"/>
              </a:rPr>
              <a:t>online platform </a:t>
            </a:r>
            <a:r>
              <a:rPr lang="en-US" dirty="0">
                <a:latin typeface="Times New Roman" panose="02020603050405020304" pitchFamily="18" charset="0"/>
                <a:cs typeface="Times New Roman" panose="02020603050405020304" pitchFamily="18" charset="0"/>
              </a:rPr>
              <a:t>for travel services. The main purpose of this system is to allow users to easily access travel information such as tour packages, cab services, pricing details, and contact information through a single website. </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It also enables users to submit booking or enquiry requests online, reducing the need for manual communication.</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The frontend of the website is developed with a responsive and attractive interface to ensure smooth navigation across different devices. The backend manages business logic, processes user requests, and securely stores booking and enquiry data in a database. An admin module helps in managing travel packages and customer details effectively. Overall, the Travels Website improves customer experience, simplifies travel management, and supports the digital growth of travel businesses.</a:t>
            </a:r>
          </a:p>
          <a:p>
            <a:pPr algn="just">
              <a:lnSpc>
                <a:spcPct val="150000"/>
              </a:lnSpc>
            </a:pPr>
            <a:endParaRPr dirty="0">
              <a:latin typeface="Times New Roman" panose="02020603050405020304" pitchFamily="18" charset="0"/>
              <a:cs typeface="Times New Roman" panose="02020603050405020304" pitchFamily="18" charset="0"/>
            </a:endParaRPr>
          </a:p>
        </p:txBody>
      </p:sp>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p:cNvGrpSpPr/>
          <p:nvPr/>
        </p:nvGrpSpPr>
        <p:grpSpPr>
          <a:xfrm>
            <a:off x="6324600" y="0"/>
            <a:ext cx="2819400" cy="533400"/>
            <a:chOff x="0" y="0"/>
            <a:chExt cx="2819400" cy="533400"/>
          </a:xfrm>
        </p:grpSpPr>
        <p:sp>
          <p:nvSpPr>
            <p:cNvPr id="27" name="Rectangle"/>
            <p:cNvSpPr/>
            <p:nvPr/>
          </p:nvSpPr>
          <p:spPr>
            <a:xfrm>
              <a:off x="0" y="0"/>
              <a:ext cx="2819400" cy="5334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28" name="OUTLINE"/>
            <p:cNvSpPr txBox="1"/>
            <p:nvPr/>
          </p:nvSpPr>
          <p:spPr>
            <a:xfrm>
              <a:off x="0" y="35869"/>
              <a:ext cx="2819400" cy="461663"/>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US" sz="2400" dirty="0"/>
                <a:t>INTRODUCTION</a:t>
              </a:r>
              <a:endParaRPr sz="2400" dirty="0"/>
            </a:p>
          </p:txBody>
        </p:sp>
      </p:grpSp>
      <p:sp>
        <p:nvSpPr>
          <p:cNvPr id="2" name="Text Box 1"/>
          <p:cNvSpPr txBox="1"/>
          <p:nvPr/>
        </p:nvSpPr>
        <p:spPr>
          <a:xfrm>
            <a:off x="704014" y="1071716"/>
            <a:ext cx="7584580" cy="523076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In today’s digital era, the travel industry is increasingly moving towards online platforms to provide better and faster services. A Travels Website is developed to offer travel services such as </a:t>
            </a:r>
            <a:r>
              <a:rPr lang="en-US" sz="1900" b="1" dirty="0">
                <a:latin typeface="Times New Roman" panose="02020603050405020304" pitchFamily="18" charset="0"/>
                <a:cs typeface="Times New Roman" panose="02020603050405020304" pitchFamily="18" charset="0"/>
              </a:rPr>
              <a:t>tour packages, cab services, and booking enquiries </a:t>
            </a:r>
            <a:r>
              <a:rPr lang="en-US" sz="1900" dirty="0">
                <a:latin typeface="Times New Roman" panose="02020603050405020304" pitchFamily="18" charset="0"/>
                <a:cs typeface="Times New Roman" panose="02020603050405020304" pitchFamily="18" charset="0"/>
              </a:rPr>
              <a:t>through an online system. This helps customers access travel information easily and conveniently</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Traditional travel booking involves manual processes and direct communication, which can be time-consuming. The Travels </a:t>
            </a:r>
            <a:r>
              <a:rPr lang="en-US" sz="1900" b="1" dirty="0">
                <a:latin typeface="Times New Roman" panose="02020603050405020304" pitchFamily="18" charset="0"/>
                <a:cs typeface="Times New Roman" panose="02020603050405020304" pitchFamily="18" charset="0"/>
              </a:rPr>
              <a:t>Website overcomes these issues </a:t>
            </a:r>
            <a:r>
              <a:rPr lang="en-US" sz="1900" dirty="0">
                <a:latin typeface="Times New Roman" panose="02020603050405020304" pitchFamily="18" charset="0"/>
                <a:cs typeface="Times New Roman" panose="02020603050405020304" pitchFamily="18" charset="0"/>
              </a:rPr>
              <a:t>by providing a user-friendly frontend and a secure backend for managing bookings and customer details. This system reduces manual work and improves efficiency in travel management.</a:t>
            </a:r>
          </a:p>
          <a:p>
            <a:pPr marL="0" marR="0" indent="0" algn="just" defTabSz="914400" rtl="0" fontAlgn="auto" latinLnBrk="0" hangingPunct="0">
              <a:lnSpc>
                <a:spcPct val="150000"/>
              </a:lnSpc>
              <a:spcBef>
                <a:spcPts val="0"/>
              </a:spcBef>
              <a:spcAft>
                <a:spcPts val="0"/>
              </a:spcAft>
              <a:buClrTx/>
              <a:buSzTx/>
            </a:pPr>
            <a:r>
              <a:rPr kumimoji="0" lang="en-US" altLang="en-US" sz="1900" b="0" i="0" u="none" strike="noStrike" cap="none" spc="0" normalizeH="0" baseline="0" dirty="0">
                <a:ln>
                  <a:noFill/>
                </a:ln>
                <a:solidFill>
                  <a:srgbClr val="000000"/>
                </a:solidFill>
                <a:effectLst/>
                <a:uFillTx/>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p>
        </p:txBody>
      </p:sp>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p:cNvGrpSpPr/>
          <p:nvPr/>
        </p:nvGrpSpPr>
        <p:grpSpPr>
          <a:xfrm>
            <a:off x="5024387" y="0"/>
            <a:ext cx="4119613" cy="683394"/>
            <a:chOff x="-1300213" y="0"/>
            <a:chExt cx="4119613" cy="683394"/>
          </a:xfrm>
        </p:grpSpPr>
        <p:sp>
          <p:nvSpPr>
            <p:cNvPr id="27" name="Rectangle"/>
            <p:cNvSpPr/>
            <p:nvPr/>
          </p:nvSpPr>
          <p:spPr>
            <a:xfrm>
              <a:off x="-1300213" y="0"/>
              <a:ext cx="4119613" cy="683394"/>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28" name="OUTLINE"/>
            <p:cNvSpPr txBox="1"/>
            <p:nvPr/>
          </p:nvSpPr>
          <p:spPr>
            <a:xfrm>
              <a:off x="-1203961" y="110865"/>
              <a:ext cx="3927107" cy="461663"/>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US" sz="2400" dirty="0"/>
                <a:t>LITERATURE SURVEY</a:t>
              </a:r>
            </a:p>
          </p:txBody>
        </p:sp>
      </p:grpSp>
      <p:sp>
        <p:nvSpPr>
          <p:cNvPr id="3" name="TextBox 2"/>
          <p:cNvSpPr txBox="1"/>
          <p:nvPr/>
        </p:nvSpPr>
        <p:spPr>
          <a:xfrm flipH="1">
            <a:off x="719488" y="950916"/>
            <a:ext cx="2081464" cy="400110"/>
          </a:xfrm>
          <a:prstGeom prst="rect">
            <a:avLst/>
          </a:prstGeom>
          <a:noFill/>
        </p:spPr>
        <p:txBody>
          <a:bodyPr wrap="square" rtlCol="0">
            <a:spAutoFit/>
          </a:bodyPr>
          <a:lstStyle/>
          <a:p>
            <a:pPr>
              <a:defRPr sz="2000" b="1"/>
            </a:pPr>
            <a:r>
              <a:rPr lang="en-US" dirty="0">
                <a:latin typeface="Times New Roman" panose="02020603050405020304" pitchFamily="18" charset="0"/>
                <a:cs typeface="Times New Roman" panose="02020603050405020304" pitchFamily="18" charset="0"/>
              </a:rPr>
              <a:t>Related Work-1:</a:t>
            </a:r>
          </a:p>
        </p:txBody>
      </p:sp>
      <p:sp>
        <p:nvSpPr>
          <p:cNvPr id="5" name="TextBox 4"/>
          <p:cNvSpPr txBox="1"/>
          <p:nvPr/>
        </p:nvSpPr>
        <p:spPr>
          <a:xfrm>
            <a:off x="1309034" y="1278130"/>
            <a:ext cx="7382577" cy="2446824"/>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Title: </a:t>
            </a:r>
            <a:r>
              <a:rPr lang="en-US" dirty="0">
                <a:latin typeface="Times New Roman" panose="02020603050405020304" pitchFamily="18" charset="0"/>
                <a:cs typeface="Times New Roman" panose="02020603050405020304" pitchFamily="18" charset="0"/>
              </a:rPr>
              <a:t>Web-Based Travel Agency Management System</a:t>
            </a:r>
          </a:p>
          <a:p>
            <a:pPr algn="just">
              <a:lnSpc>
                <a:spcPct val="150000"/>
              </a:lnSpc>
            </a:pPr>
            <a:r>
              <a:rPr lang="en-US" b="1" dirty="0">
                <a:latin typeface="Times New Roman" panose="02020603050405020304" pitchFamily="18" charset="0"/>
                <a:cs typeface="Times New Roman" panose="02020603050405020304" pitchFamily="18" charset="0"/>
              </a:rPr>
              <a:t>Author: </a:t>
            </a:r>
            <a:r>
              <a:rPr lang="en-US" dirty="0">
                <a:latin typeface="Times New Roman" panose="02020603050405020304" pitchFamily="18" charset="0"/>
                <a:cs typeface="Times New Roman" panose="02020603050405020304" pitchFamily="18" charset="0"/>
              </a:rPr>
              <a:t>S. Sharma et al.</a:t>
            </a:r>
          </a:p>
          <a:p>
            <a:pPr algn="just">
              <a:lnSpc>
                <a:spcPct val="150000"/>
              </a:lnSpc>
            </a:pPr>
            <a:r>
              <a:rPr lang="en-US" b="1" dirty="0">
                <a:latin typeface="Times New Roman" panose="02020603050405020304" pitchFamily="18" charset="0"/>
                <a:cs typeface="Times New Roman" panose="02020603050405020304" pitchFamily="18" charset="0"/>
              </a:rPr>
              <a:t>Findings: </a:t>
            </a:r>
            <a:r>
              <a:rPr lang="en-US" dirty="0">
                <a:latin typeface="Times New Roman" panose="02020603050405020304" pitchFamily="18" charset="0"/>
                <a:cs typeface="Times New Roman" panose="02020603050405020304" pitchFamily="18" charset="0"/>
              </a:rPr>
              <a:t>The research developed a travel agency website to manage tour packages and customer enquiries. It improved business visibility and allowed customers to access travel information anytime online.</a:t>
            </a:r>
          </a:p>
          <a:p>
            <a:endParaRPr lang="en-US" dirty="0"/>
          </a:p>
        </p:txBody>
      </p:sp>
      <p:sp>
        <p:nvSpPr>
          <p:cNvPr id="9" name="TextBox 8"/>
          <p:cNvSpPr txBox="1"/>
          <p:nvPr/>
        </p:nvSpPr>
        <p:spPr>
          <a:xfrm flipH="1">
            <a:off x="719488" y="3432752"/>
            <a:ext cx="2081464" cy="400110"/>
          </a:xfrm>
          <a:prstGeom prst="rect">
            <a:avLst/>
          </a:prstGeom>
          <a:noFill/>
        </p:spPr>
        <p:txBody>
          <a:bodyPr wrap="square" rtlCol="0">
            <a:spAutoFit/>
          </a:bodyPr>
          <a:lstStyle/>
          <a:p>
            <a:pPr>
              <a:defRPr sz="2000" b="1"/>
            </a:pPr>
            <a:r>
              <a:rPr lang="en-US" dirty="0">
                <a:latin typeface="Times New Roman" panose="02020603050405020304" pitchFamily="18" charset="0"/>
                <a:cs typeface="Times New Roman" panose="02020603050405020304" pitchFamily="18" charset="0"/>
              </a:rPr>
              <a:t>Related Work-2:</a:t>
            </a:r>
          </a:p>
        </p:txBody>
      </p:sp>
      <p:sp>
        <p:nvSpPr>
          <p:cNvPr id="6" name="TextBox 5"/>
          <p:cNvSpPr txBox="1"/>
          <p:nvPr/>
        </p:nvSpPr>
        <p:spPr>
          <a:xfrm>
            <a:off x="1309034" y="3724954"/>
            <a:ext cx="7382576" cy="3831818"/>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Title: </a:t>
            </a:r>
            <a:r>
              <a:rPr lang="en-US" dirty="0">
                <a:latin typeface="Times New Roman" panose="02020603050405020304" pitchFamily="18" charset="0"/>
                <a:cs typeface="Times New Roman" panose="02020603050405020304" pitchFamily="18" charset="0"/>
              </a:rPr>
              <a:t>Design and Implementation of Online Transportation Management System</a:t>
            </a:r>
          </a:p>
          <a:p>
            <a:pPr algn="just">
              <a:lnSpc>
                <a:spcPct val="150000"/>
              </a:lnSpc>
            </a:pPr>
            <a:r>
              <a:rPr lang="en-US" b="1" dirty="0">
                <a:latin typeface="Times New Roman" panose="02020603050405020304" pitchFamily="18" charset="0"/>
                <a:cs typeface="Times New Roman" panose="02020603050405020304" pitchFamily="18" charset="0"/>
              </a:rPr>
              <a:t>Author: </a:t>
            </a:r>
            <a:r>
              <a:rPr lang="en-IN" dirty="0">
                <a:latin typeface="Times New Roman" panose="02020603050405020304" pitchFamily="18" charset="0"/>
                <a:cs typeface="Times New Roman" panose="02020603050405020304" pitchFamily="18" charset="0"/>
              </a:rPr>
              <a:t>M. Patel et al</a:t>
            </a:r>
          </a:p>
          <a:p>
            <a:pPr algn="just">
              <a:lnSpc>
                <a:spcPct val="150000"/>
              </a:lnSpc>
            </a:pPr>
            <a:r>
              <a:rPr lang="en-US" b="1" dirty="0">
                <a:latin typeface="Times New Roman" panose="02020603050405020304" pitchFamily="18" charset="0"/>
                <a:cs typeface="Times New Roman" panose="02020603050405020304" pitchFamily="18" charset="0"/>
              </a:rPr>
              <a:t>Findings: </a:t>
            </a:r>
            <a:r>
              <a:rPr lang="en-US" dirty="0">
                <a:latin typeface="Times New Roman" panose="02020603050405020304" pitchFamily="18" charset="0"/>
                <a:cs typeface="Times New Roman" panose="02020603050405020304" pitchFamily="18" charset="0"/>
              </a:rPr>
              <a:t>The system used frontend and backend technologies to manage schedules and bookings efficiently. It improved operational efficiency and customer satisfaction.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p>
        </p:txBody>
      </p:sp>
    </p:spTree>
    <p:extLst>
      <p:ext uri="{BB962C8B-B14F-4D97-AF65-F5344CB8AC3E}">
        <p14:creationId xmlns:p14="http://schemas.microsoft.com/office/powerpoint/2010/main" val="3075305475"/>
      </p:ext>
    </p:extLst>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p:cNvGrpSpPr/>
          <p:nvPr/>
        </p:nvGrpSpPr>
        <p:grpSpPr>
          <a:xfrm>
            <a:off x="6172200" y="0"/>
            <a:ext cx="2971800" cy="609600"/>
            <a:chOff x="0" y="0"/>
            <a:chExt cx="2971800" cy="609600"/>
          </a:xfrm>
        </p:grpSpPr>
        <p:sp>
          <p:nvSpPr>
            <p:cNvPr id="32" name="Rectangle"/>
            <p:cNvSpPr/>
            <p:nvPr/>
          </p:nvSpPr>
          <p:spPr>
            <a:xfrm>
              <a:off x="0" y="0"/>
              <a:ext cx="2971800" cy="6096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33" name="OBJECTIVE"/>
            <p:cNvSpPr txBox="1"/>
            <p:nvPr/>
          </p:nvSpPr>
          <p:spPr>
            <a:xfrm>
              <a:off x="0" y="43191"/>
              <a:ext cx="29718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dirty="0"/>
                <a:t>OBJECTIVE</a:t>
              </a:r>
              <a:r>
                <a:rPr lang="en-US" dirty="0"/>
                <a:t>S</a:t>
              </a:r>
              <a:endParaRPr dirty="0"/>
            </a:p>
          </p:txBody>
        </p:sp>
      </p:grpSp>
      <p:sp>
        <p:nvSpPr>
          <p:cNvPr id="35" name="It is known that the technological advancements are increasing at a faster pace. But the utilisation of technologies in various sectors are very low. It is known that most of the people find it difficult to detect the text from the paper and books. So we propose a system where the text images can be extracted by the system and given to the Pi. The Pi processes the text images and reads out the content using speaker. This enables the use of text to speech conversion."/>
          <p:cNvSpPr txBox="1"/>
          <p:nvPr/>
        </p:nvSpPr>
        <p:spPr>
          <a:xfrm>
            <a:off x="943677" y="1026747"/>
            <a:ext cx="7505700" cy="5447645"/>
          </a:xfrm>
          <a:prstGeom prst="rect">
            <a:avLst/>
          </a:prstGeom>
          <a:ln w="12700">
            <a:miter lim="400000"/>
          </a:ln>
        </p:spPr>
        <p:txBody>
          <a:bodyPr lIns="45719" rIns="45719">
            <a:spAutoFit/>
          </a:bodyPr>
          <a:lstStyle>
            <a:lvl1pPr algn="just">
              <a:defRPr sz="2400">
                <a:effectLst>
                  <a:outerShdw blurRad="12700" dist="25400" dir="2700000" rotWithShape="0">
                    <a:srgbClr val="DDDDDD"/>
                  </a:outerShdw>
                </a:effectLst>
              </a:defRPr>
            </a:lvl1p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design and develop a user-friendly Travels Website.</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provide travel services information such as tour packages and cab services online.</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enable users to send booking and enquiry requests through the website.</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reduce manual work involved in traditional travel booking systems.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develop a responsive website that works on mobile, tablet, and desktop devices.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manage customer and booking details securely using backend and database.</a:t>
            </a:r>
          </a:p>
          <a:p>
            <a:pPr marL="342900" indent="-342900">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p:cNvGrpSpPr/>
          <p:nvPr/>
        </p:nvGrpSpPr>
        <p:grpSpPr>
          <a:xfrm>
            <a:off x="3519739" y="0"/>
            <a:ext cx="5624261" cy="784781"/>
            <a:chOff x="0" y="0"/>
            <a:chExt cx="5624260" cy="784780"/>
          </a:xfrm>
        </p:grpSpPr>
        <p:sp>
          <p:nvSpPr>
            <p:cNvPr id="62" name="Rectangle"/>
            <p:cNvSpPr/>
            <p:nvPr/>
          </p:nvSpPr>
          <p:spPr>
            <a:xfrm>
              <a:off x="0" y="0"/>
              <a:ext cx="5624261" cy="784781"/>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63" name="EXISITING SYSTEM"/>
            <p:cNvSpPr txBox="1"/>
            <p:nvPr/>
          </p:nvSpPr>
          <p:spPr>
            <a:xfrm>
              <a:off x="0" y="185237"/>
              <a:ext cx="5624261" cy="414306"/>
            </a:xfrm>
            <a:prstGeom prst="rect">
              <a:avLst/>
            </a:prstGeom>
            <a:noFill/>
            <a:ln w="12700" cap="flat">
              <a:noFill/>
              <a:miter lim="400000"/>
            </a:ln>
            <a:effectLst/>
          </p:spPr>
          <p:txBody>
            <a:bodyPr wrap="square" lIns="45719" tIns="45719" rIns="45719" bIns="45719" numCol="1" anchor="ctr">
              <a:noAutofit/>
            </a:bodyPr>
            <a:lstStyle>
              <a:lvl1pPr algn="ctr">
                <a:defRPr sz="2800" b="1">
                  <a:solidFill>
                    <a:srgbClr val="FFFFFF"/>
                  </a:solidFill>
                </a:defRPr>
              </a:lvl1pPr>
            </a:lstStyle>
            <a:p>
              <a:r>
                <a:rPr dirty="0"/>
                <a:t>EXISITING SYSTEM </a:t>
              </a:r>
              <a:r>
                <a:rPr lang="en-US" dirty="0"/>
                <a:t>LIMITATIONS</a:t>
              </a:r>
              <a:endParaRPr dirty="0"/>
            </a:p>
          </p:txBody>
        </p:sp>
      </p:grpSp>
      <p:sp>
        <p:nvSpPr>
          <p:cNvPr id="3" name="TextBox 2"/>
          <p:cNvSpPr txBox="1"/>
          <p:nvPr/>
        </p:nvSpPr>
        <p:spPr>
          <a:xfrm>
            <a:off x="940999" y="1082584"/>
            <a:ext cx="6853187" cy="735996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Travel services are </a:t>
            </a:r>
            <a:r>
              <a:rPr lang="en-US" sz="2300" b="1" dirty="0">
                <a:latin typeface="Times New Roman" panose="02020603050405020304" pitchFamily="18" charset="0"/>
                <a:cs typeface="Times New Roman" panose="02020603050405020304" pitchFamily="18" charset="0"/>
              </a:rPr>
              <a:t>managed manually</a:t>
            </a:r>
            <a:r>
              <a:rPr lang="en-US" sz="2300" dirty="0">
                <a:latin typeface="Times New Roman" panose="02020603050405020304" pitchFamily="18" charset="0"/>
                <a:cs typeface="Times New Roman" panose="02020603050405020304" pitchFamily="18" charset="0"/>
              </a:rPr>
              <a:t> through phone calls and direct visits.</a:t>
            </a:r>
          </a:p>
          <a:p>
            <a:pPr marL="342900" indent="-342900">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Customers cannot view tour packages and pricing details online.</a:t>
            </a:r>
          </a:p>
          <a:p>
            <a:pPr marL="342900" indent="-342900">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There is a higher chance of </a:t>
            </a:r>
            <a:r>
              <a:rPr lang="en-US" sz="2300" b="1" dirty="0">
                <a:latin typeface="Times New Roman" panose="02020603050405020304" pitchFamily="18" charset="0"/>
                <a:cs typeface="Times New Roman" panose="02020603050405020304" pitchFamily="18" charset="0"/>
              </a:rPr>
              <a:t>human errors</a:t>
            </a:r>
            <a:r>
              <a:rPr lang="en-US" sz="2300" dirty="0">
                <a:latin typeface="Times New Roman" panose="02020603050405020304" pitchFamily="18" charset="0"/>
                <a:cs typeface="Times New Roman" panose="02020603050405020304" pitchFamily="18" charset="0"/>
              </a:rPr>
              <a:t> in booking details.</a:t>
            </a:r>
          </a:p>
          <a:p>
            <a:pPr marL="342900" indent="-342900">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Manual booking processes consume more time and effort.</a:t>
            </a:r>
          </a:p>
          <a:p>
            <a:pPr marL="342900" indent="-342900">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Limited customer reach due to lack of online presence.</a:t>
            </a:r>
          </a:p>
          <a:p>
            <a:pPr>
              <a:lnSpc>
                <a:spcPct val="150000"/>
              </a:lnSpc>
            </a:pPr>
            <a:br>
              <a:rPr lang="en-US" sz="2300" dirty="0">
                <a:latin typeface="Times New Roman" panose="02020603050405020304" pitchFamily="18" charset="0"/>
                <a:cs typeface="Times New Roman" panose="02020603050405020304" pitchFamily="18" charset="0"/>
              </a:rPr>
            </a:br>
            <a:endParaRPr lang="en-US" sz="23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endParaRPr lang="en-US" sz="21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p:cNvGrpSpPr/>
          <p:nvPr/>
        </p:nvGrpSpPr>
        <p:grpSpPr>
          <a:xfrm>
            <a:off x="3519739" y="0"/>
            <a:ext cx="5624261" cy="784781"/>
            <a:chOff x="0" y="0"/>
            <a:chExt cx="5624260" cy="784780"/>
          </a:xfrm>
        </p:grpSpPr>
        <p:sp>
          <p:nvSpPr>
            <p:cNvPr id="62" name="Rectangle"/>
            <p:cNvSpPr/>
            <p:nvPr/>
          </p:nvSpPr>
          <p:spPr>
            <a:xfrm>
              <a:off x="0" y="0"/>
              <a:ext cx="5624261" cy="784781"/>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63" name="EXISITING SYSTEM"/>
            <p:cNvSpPr txBox="1"/>
            <p:nvPr/>
          </p:nvSpPr>
          <p:spPr>
            <a:xfrm>
              <a:off x="0" y="185237"/>
              <a:ext cx="5624261" cy="414306"/>
            </a:xfrm>
            <a:prstGeom prst="rect">
              <a:avLst/>
            </a:prstGeom>
            <a:noFill/>
            <a:ln w="12700" cap="flat">
              <a:noFill/>
              <a:miter lim="400000"/>
            </a:ln>
            <a:effectLst/>
          </p:spPr>
          <p:txBody>
            <a:bodyPr wrap="square" lIns="45719" tIns="45719" rIns="45719" bIns="45719" numCol="1" anchor="ctr">
              <a:noAutofit/>
            </a:bodyPr>
            <a:lstStyle>
              <a:lvl1pPr algn="ctr">
                <a:defRPr sz="2800" b="1">
                  <a:solidFill>
                    <a:srgbClr val="FFFFFF"/>
                  </a:solidFill>
                </a:defRPr>
              </a:lvl1pPr>
            </a:lstStyle>
            <a:p>
              <a:r>
                <a:rPr lang="en-US" dirty="0"/>
                <a:t>PROPOSED</a:t>
              </a:r>
              <a:r>
                <a:rPr dirty="0"/>
                <a:t> SYSTEM</a:t>
              </a:r>
            </a:p>
          </p:txBody>
        </p:sp>
      </p:grpSp>
      <p:sp>
        <p:nvSpPr>
          <p:cNvPr id="65" name="Existing System Limitations:…"/>
          <p:cNvSpPr txBox="1"/>
          <p:nvPr/>
        </p:nvSpPr>
        <p:spPr>
          <a:xfrm>
            <a:off x="904156" y="1781850"/>
            <a:ext cx="8001001" cy="4499758"/>
          </a:xfrm>
          <a:prstGeom prst="rect">
            <a:avLst/>
          </a:prstGeom>
          <a:ln w="12700">
            <a:miter lim="400000"/>
          </a:ln>
        </p:spPr>
        <p:txBody>
          <a:bodyPr lIns="45719" rIns="45719">
            <a:spAutoFit/>
          </a:bodyPr>
          <a:lstStyle/>
          <a:p>
            <a:pPr algn="just">
              <a:lnSpc>
                <a:spcPct val="150000"/>
              </a:lnSpc>
              <a:spcBef>
                <a:spcPts val="400"/>
              </a:spcBef>
              <a:defRPr sz="2000"/>
            </a:pPr>
            <a:r>
              <a:rPr lang="en-US" altLang="en-US" sz="2200" b="1" dirty="0">
                <a:latin typeface="Times New Roman" panose="02020603050405020304" pitchFamily="18" charset="0"/>
                <a:cs typeface="Times New Roman" panose="02020603050405020304" pitchFamily="18" charset="0"/>
              </a:rPr>
              <a:t>The proposed system is an Travels Website that:</a:t>
            </a:r>
          </a:p>
          <a:p>
            <a:pPr marL="342900" indent="-342900" algn="just">
              <a:lnSpc>
                <a:spcPct val="150000"/>
              </a:lnSpc>
              <a:spcBef>
                <a:spcPts val="400"/>
              </a:spcBef>
              <a:buFont typeface="Wingdings" panose="05000000000000000000" pitchFamily="2" charset="2"/>
              <a:buChar char="Ø"/>
              <a:defRPr sz="2000"/>
            </a:pPr>
            <a:r>
              <a:rPr lang="en-US" sz="2300" dirty="0">
                <a:latin typeface="Times New Roman" panose="02020603050405020304" pitchFamily="18" charset="0"/>
                <a:cs typeface="Times New Roman" panose="02020603050405020304" pitchFamily="18" charset="0"/>
              </a:rPr>
              <a:t>Develop a web-based Travels Website.</a:t>
            </a:r>
          </a:p>
          <a:p>
            <a:pPr marL="342900" indent="-342900" algn="just">
              <a:lnSpc>
                <a:spcPct val="150000"/>
              </a:lnSpc>
              <a:spcBef>
                <a:spcPts val="400"/>
              </a:spcBef>
              <a:buFont typeface="Wingdings" panose="05000000000000000000" pitchFamily="2" charset="2"/>
              <a:buChar char="Ø"/>
              <a:defRPr sz="2000"/>
            </a:pPr>
            <a:r>
              <a:rPr lang="en-US" sz="2300" dirty="0">
                <a:latin typeface="Times New Roman" panose="02020603050405020304" pitchFamily="18" charset="0"/>
                <a:cs typeface="Times New Roman" panose="02020603050405020304" pitchFamily="18" charset="0"/>
              </a:rPr>
              <a:t>Provide online access to travel services and tour packages.</a:t>
            </a:r>
          </a:p>
          <a:p>
            <a:pPr marL="342900" indent="-342900" algn="just">
              <a:lnSpc>
                <a:spcPct val="150000"/>
              </a:lnSpc>
              <a:spcBef>
                <a:spcPts val="400"/>
              </a:spcBef>
              <a:buFont typeface="Wingdings" panose="05000000000000000000" pitchFamily="2" charset="2"/>
              <a:buChar char="Ø"/>
              <a:defRPr sz="2000"/>
            </a:pPr>
            <a:r>
              <a:rPr lang="en-US" sz="2300" dirty="0">
                <a:latin typeface="Times New Roman" panose="02020603050405020304" pitchFamily="18" charset="0"/>
                <a:cs typeface="Times New Roman" panose="02020603050405020304" pitchFamily="18" charset="0"/>
              </a:rPr>
              <a:t>Offer </a:t>
            </a:r>
            <a:r>
              <a:rPr lang="en-US" sz="2300" b="1" dirty="0">
                <a:latin typeface="Times New Roman" panose="02020603050405020304" pitchFamily="18" charset="0"/>
                <a:cs typeface="Times New Roman" panose="02020603050405020304" pitchFamily="18" charset="0"/>
              </a:rPr>
              <a:t>24/7 availability</a:t>
            </a:r>
            <a:r>
              <a:rPr lang="en-US" sz="2300" dirty="0">
                <a:latin typeface="Times New Roman" panose="02020603050405020304" pitchFamily="18" charset="0"/>
                <a:cs typeface="Times New Roman" panose="02020603050405020304" pitchFamily="18" charset="0"/>
              </a:rPr>
              <a:t> for accessing travel information. </a:t>
            </a:r>
          </a:p>
          <a:p>
            <a:pPr marL="342900" indent="-342900" algn="just">
              <a:lnSpc>
                <a:spcPct val="150000"/>
              </a:lnSpc>
              <a:spcBef>
                <a:spcPts val="400"/>
              </a:spcBef>
              <a:buFont typeface="Wingdings" panose="05000000000000000000" pitchFamily="2" charset="2"/>
              <a:buChar char="Ø"/>
              <a:defRPr sz="2000"/>
            </a:pPr>
            <a:r>
              <a:rPr lang="en-US" sz="2300" dirty="0">
                <a:latin typeface="Times New Roman" panose="02020603050405020304" pitchFamily="18" charset="0"/>
                <a:cs typeface="Times New Roman" panose="02020603050405020304" pitchFamily="18" charset="0"/>
              </a:rPr>
              <a:t>Use a responsive frontend for better user experience.</a:t>
            </a:r>
          </a:p>
          <a:p>
            <a:pPr marL="342900" indent="-342900" algn="just">
              <a:lnSpc>
                <a:spcPct val="150000"/>
              </a:lnSpc>
              <a:spcBef>
                <a:spcPts val="400"/>
              </a:spcBef>
              <a:buFont typeface="Wingdings" panose="05000000000000000000" pitchFamily="2" charset="2"/>
              <a:buChar char="Ø"/>
              <a:defRPr sz="2000"/>
            </a:pPr>
            <a:r>
              <a:rPr lang="en-US" sz="2300" dirty="0">
                <a:latin typeface="Times New Roman" panose="02020603050405020304" pitchFamily="18" charset="0"/>
                <a:cs typeface="Times New Roman" panose="02020603050405020304" pitchFamily="18" charset="0"/>
              </a:rPr>
              <a:t>It securely stores customer and booking data using backend and database technologies.</a:t>
            </a:r>
          </a:p>
          <a:p>
            <a:pPr algn="just">
              <a:lnSpc>
                <a:spcPct val="150000"/>
              </a:lnSpc>
              <a:spcBef>
                <a:spcPts val="400"/>
              </a:spcBef>
              <a:defRPr sz="2000"/>
            </a:pPr>
            <a:endParaRPr lang="en-US"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p:cNvGrpSpPr/>
          <p:nvPr/>
        </p:nvGrpSpPr>
        <p:grpSpPr>
          <a:xfrm>
            <a:off x="3519739" y="0"/>
            <a:ext cx="5624261" cy="784781"/>
            <a:chOff x="0" y="0"/>
            <a:chExt cx="5624260" cy="784780"/>
          </a:xfrm>
        </p:grpSpPr>
        <p:sp>
          <p:nvSpPr>
            <p:cNvPr id="62" name="Rectangle"/>
            <p:cNvSpPr/>
            <p:nvPr/>
          </p:nvSpPr>
          <p:spPr>
            <a:xfrm>
              <a:off x="0" y="0"/>
              <a:ext cx="5624261" cy="784781"/>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63" name="EXISITING SYSTEM"/>
            <p:cNvSpPr txBox="1"/>
            <p:nvPr/>
          </p:nvSpPr>
          <p:spPr>
            <a:xfrm>
              <a:off x="0" y="185237"/>
              <a:ext cx="5624261" cy="414306"/>
            </a:xfrm>
            <a:prstGeom prst="rect">
              <a:avLst/>
            </a:prstGeom>
            <a:noFill/>
            <a:ln w="12700" cap="flat">
              <a:noFill/>
              <a:miter lim="400000"/>
            </a:ln>
            <a:effectLst/>
          </p:spPr>
          <p:txBody>
            <a:bodyPr wrap="square" lIns="45719" tIns="45719" rIns="45719" bIns="45719" numCol="1" anchor="ctr">
              <a:noAutofit/>
            </a:bodyPr>
            <a:lstStyle>
              <a:lvl1pPr algn="ctr">
                <a:defRPr sz="2800" b="1">
                  <a:solidFill>
                    <a:srgbClr val="FFFFFF"/>
                  </a:solidFill>
                </a:defRPr>
              </a:lvl1pPr>
            </a:lstStyle>
            <a:p>
              <a:r>
                <a:rPr lang="en-US" dirty="0"/>
                <a:t>SYSTEM ARCHITECTURE</a:t>
              </a:r>
              <a:endParaRPr dirty="0"/>
            </a:p>
          </p:txBody>
        </p:sp>
      </p:grpSp>
      <p:sp>
        <p:nvSpPr>
          <p:cNvPr id="65" name="Existing System Limitations:…"/>
          <p:cNvSpPr txBox="1"/>
          <p:nvPr/>
        </p:nvSpPr>
        <p:spPr>
          <a:xfrm>
            <a:off x="654297" y="1185394"/>
            <a:ext cx="8001001" cy="506292"/>
          </a:xfrm>
          <a:prstGeom prst="rect">
            <a:avLst/>
          </a:prstGeom>
          <a:ln w="12700">
            <a:miter lim="400000"/>
          </a:ln>
        </p:spPr>
        <p:txBody>
          <a:bodyPr lIns="45719" rIns="45719">
            <a:spAutoFit/>
          </a:bodyPr>
          <a:lstStyle/>
          <a:p>
            <a:pPr>
              <a:lnSpc>
                <a:spcPct val="150000"/>
              </a:lnSpc>
              <a:spcBef>
                <a:spcPts val="400"/>
              </a:spcBef>
              <a:defRPr sz="2000" b="1"/>
            </a:pPr>
            <a:endParaRPr dirty="0"/>
          </a:p>
        </p:txBody>
      </p:sp>
      <p:pic>
        <p:nvPicPr>
          <p:cNvPr id="5" name="Picture 4">
            <a:extLst>
              <a:ext uri="{FF2B5EF4-FFF2-40B4-BE49-F238E27FC236}">
                <a16:creationId xmlns:a16="http://schemas.microsoft.com/office/drawing/2014/main" id="{6AF7893E-E3F0-C520-6EAC-CE543CBCECA6}"/>
              </a:ext>
            </a:extLst>
          </p:cNvPr>
          <p:cNvPicPr>
            <a:picLocks noChangeAspect="1"/>
          </p:cNvPicPr>
          <p:nvPr/>
        </p:nvPicPr>
        <p:blipFill>
          <a:blip r:embed="rId2"/>
          <a:stretch>
            <a:fillRect/>
          </a:stretch>
        </p:blipFill>
        <p:spPr>
          <a:xfrm>
            <a:off x="0" y="762000"/>
            <a:ext cx="9144000" cy="6096000"/>
          </a:xfrm>
          <a:prstGeom prst="rect">
            <a:avLst/>
          </a:prstGeom>
        </p:spPr>
      </p:pic>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roup"/>
          <p:cNvGrpSpPr/>
          <p:nvPr/>
        </p:nvGrpSpPr>
        <p:grpSpPr>
          <a:xfrm>
            <a:off x="6096000" y="0"/>
            <a:ext cx="3048000" cy="762000"/>
            <a:chOff x="0" y="0"/>
            <a:chExt cx="3048000" cy="762000"/>
          </a:xfrm>
        </p:grpSpPr>
        <p:sp>
          <p:nvSpPr>
            <p:cNvPr id="124" name="Rectangle"/>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125" name="REFERENCES"/>
            <p:cNvSpPr txBox="1"/>
            <p:nvPr/>
          </p:nvSpPr>
          <p:spPr>
            <a:xfrm>
              <a:off x="0" y="139633"/>
              <a:ext cx="3048000" cy="482734"/>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t>REFERENCES</a:t>
              </a:r>
            </a:p>
          </p:txBody>
        </p:sp>
      </p:grpSp>
      <p:sp>
        <p:nvSpPr>
          <p:cNvPr id="127" name="[1] Shinnosuke Takamichi ; Tomoki Toda ; Alan W. Black ; Graham Neubig…"/>
          <p:cNvSpPr txBox="1"/>
          <p:nvPr/>
        </p:nvSpPr>
        <p:spPr>
          <a:xfrm>
            <a:off x="804512" y="1416518"/>
            <a:ext cx="7492465" cy="5351721"/>
          </a:xfrm>
          <a:prstGeom prst="rect">
            <a:avLst/>
          </a:prstGeom>
          <a:ln w="12700">
            <a:miter lim="400000"/>
          </a:ln>
        </p:spPr>
        <p:txBody>
          <a:bodyPr wrap="square" lIns="45719" rIns="45719">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In IEEE format</a:t>
            </a:r>
          </a:p>
          <a:p>
            <a:pPr marL="342900" indent="-342900" algn="just">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[1] S. Sharma and M. Gupta, “Web-Based Travel Agency Management System,” International Journal of Computer Science and Information Technology, 2018..  </a:t>
            </a:r>
          </a:p>
          <a:p>
            <a:pPr algn="just">
              <a:lnSpc>
                <a:spcPct val="150000"/>
              </a:lnSpc>
            </a:pPr>
            <a:endParaRPr lang="en-US" sz="23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[2] M. Patel, K. Shah, and R. Desai, “Design and Implementation of Online Transportation Management System,” </a:t>
            </a:r>
            <a:r>
              <a:rPr lang="en-US" sz="2300" i="1" dirty="0">
                <a:latin typeface="Times New Roman" panose="02020603050405020304" pitchFamily="18" charset="0"/>
                <a:cs typeface="Times New Roman" panose="02020603050405020304" pitchFamily="18" charset="0"/>
              </a:rPr>
              <a:t>International Journal of Engineering and Technology</a:t>
            </a:r>
            <a:r>
              <a:rPr lang="en-US" sz="2300" dirty="0">
                <a:latin typeface="Times New Roman" panose="02020603050405020304" pitchFamily="18" charset="0"/>
                <a:cs typeface="Times New Roman" panose="02020603050405020304" pitchFamily="18" charset="0"/>
              </a:rPr>
              <a:t>, vol. 7, no. 3, pp. 112–116, 2019.</a:t>
            </a:r>
          </a:p>
          <a:p>
            <a:pPr algn="just">
              <a:lnSpc>
                <a:spcPct val="150000"/>
              </a:lnSpc>
            </a:pPr>
            <a:endParaRPr lang="en-US"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a:extLst>
              <a:ext uri="{FF2B5EF4-FFF2-40B4-BE49-F238E27FC236}">
                <a16:creationId xmlns:a16="http://schemas.microsoft.com/office/drawing/2014/main" id="{FEEE1238-EA27-9CB5-D364-4F62417BE72D}"/>
              </a:ext>
            </a:extLst>
          </p:cNvPr>
          <p:cNvGrpSpPr/>
          <p:nvPr/>
        </p:nvGrpSpPr>
        <p:grpSpPr>
          <a:xfrm>
            <a:off x="5732206" y="0"/>
            <a:ext cx="3411794" cy="762000"/>
            <a:chOff x="0" y="0"/>
            <a:chExt cx="3048000" cy="762000"/>
          </a:xfrm>
        </p:grpSpPr>
        <p:sp>
          <p:nvSpPr>
            <p:cNvPr id="3" name="Rectangle">
              <a:extLst>
                <a:ext uri="{FF2B5EF4-FFF2-40B4-BE49-F238E27FC236}">
                  <a16:creationId xmlns:a16="http://schemas.microsoft.com/office/drawing/2014/main" id="{796A0717-2DA6-14A2-EA56-49929D12A914}"/>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4" name="REFERENCES">
              <a:extLst>
                <a:ext uri="{FF2B5EF4-FFF2-40B4-BE49-F238E27FC236}">
                  <a16:creationId xmlns:a16="http://schemas.microsoft.com/office/drawing/2014/main" id="{D5C36E23-A5C5-BBA6-B518-9FD047693865}"/>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LIST OF MODULES</a:t>
              </a:r>
              <a:endParaRPr dirty="0"/>
            </a:p>
          </p:txBody>
        </p:sp>
      </p:grpSp>
      <p:sp>
        <p:nvSpPr>
          <p:cNvPr id="10" name="TextBox 9">
            <a:extLst>
              <a:ext uri="{FF2B5EF4-FFF2-40B4-BE49-F238E27FC236}">
                <a16:creationId xmlns:a16="http://schemas.microsoft.com/office/drawing/2014/main" id="{1FEE8998-4E52-B77B-07AF-5176BFA51024}"/>
              </a:ext>
            </a:extLst>
          </p:cNvPr>
          <p:cNvSpPr txBox="1"/>
          <p:nvPr/>
        </p:nvSpPr>
        <p:spPr>
          <a:xfrm>
            <a:off x="103239" y="3381512"/>
            <a:ext cx="8445912"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MODULE 3 :</a:t>
            </a:r>
            <a:r>
              <a:rPr lang="en-IN" sz="24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SMART TOUR PACKAGE HANDLING SYSTEM</a:t>
            </a:r>
          </a:p>
        </p:txBody>
      </p:sp>
      <p:sp>
        <p:nvSpPr>
          <p:cNvPr id="16" name="TextBox 15">
            <a:extLst>
              <a:ext uri="{FF2B5EF4-FFF2-40B4-BE49-F238E27FC236}">
                <a16:creationId xmlns:a16="http://schemas.microsoft.com/office/drawing/2014/main" id="{C34F0498-625F-B278-E9C5-A9B6D9FA52A3}"/>
              </a:ext>
            </a:extLst>
          </p:cNvPr>
          <p:cNvSpPr txBox="1"/>
          <p:nvPr/>
        </p:nvSpPr>
        <p:spPr>
          <a:xfrm>
            <a:off x="103239" y="2114016"/>
            <a:ext cx="8760541"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MODULE 1 : </a:t>
            </a:r>
            <a:r>
              <a:rPr lang="en-US" sz="2000" b="1" dirty="0">
                <a:latin typeface="Times New Roman" panose="02020603050405020304" pitchFamily="18" charset="0"/>
                <a:cs typeface="Times New Roman" panose="02020603050405020304" pitchFamily="18" charset="0"/>
              </a:rPr>
              <a:t>USER ACCESS &amp; SECURITY MANAGEMENT</a:t>
            </a:r>
            <a:endParaRPr lang="en-IN" sz="20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0675CC50-CD74-4B22-B528-A4B192F412C4}"/>
              </a:ext>
            </a:extLst>
          </p:cNvPr>
          <p:cNvSpPr txBox="1"/>
          <p:nvPr/>
        </p:nvSpPr>
        <p:spPr>
          <a:xfrm>
            <a:off x="103239" y="2695072"/>
            <a:ext cx="8672053"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MODULE 2</a:t>
            </a:r>
            <a:r>
              <a:rPr lang="en-IN" sz="24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 DRIVER OPERATIONS &amp; CONTROL SYSTEM</a:t>
            </a:r>
          </a:p>
        </p:txBody>
      </p:sp>
      <p:sp>
        <p:nvSpPr>
          <p:cNvPr id="20" name="TextBox 19">
            <a:extLst>
              <a:ext uri="{FF2B5EF4-FFF2-40B4-BE49-F238E27FC236}">
                <a16:creationId xmlns:a16="http://schemas.microsoft.com/office/drawing/2014/main" id="{D921C1EE-1A20-9D65-DC71-8BA4927598B4}"/>
              </a:ext>
            </a:extLst>
          </p:cNvPr>
          <p:cNvSpPr txBox="1"/>
          <p:nvPr/>
        </p:nvSpPr>
        <p:spPr>
          <a:xfrm>
            <a:off x="147484" y="4067952"/>
            <a:ext cx="9114503" cy="43088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MODULE 4 : </a:t>
            </a:r>
            <a:r>
              <a:rPr lang="en-US" sz="2000" b="1" dirty="0">
                <a:latin typeface="Times New Roman" panose="02020603050405020304" pitchFamily="18" charset="0"/>
                <a:cs typeface="Times New Roman" panose="02020603050405020304" pitchFamily="18" charset="0"/>
              </a:rPr>
              <a:t>ADMIN CONTROL &amp; SYSTEM MONITORING HUB</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699536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F3A887-7C10-B7B6-DB78-510A8383B986}"/>
              </a:ext>
            </a:extLst>
          </p:cNvPr>
          <p:cNvSpPr txBox="1"/>
          <p:nvPr/>
        </p:nvSpPr>
        <p:spPr>
          <a:xfrm>
            <a:off x="147483" y="1823822"/>
            <a:ext cx="8799871" cy="4616648"/>
          </a:xfrm>
          <a:prstGeom prst="rect">
            <a:avLst/>
          </a:prstGeom>
          <a:noFill/>
        </p:spPr>
        <p:txBody>
          <a:bodyPr wrap="square">
            <a:spAutoFit/>
          </a:bodyPr>
          <a:lstStyle/>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Login Page</a:t>
            </a:r>
            <a:br>
              <a:rPr lang="en-US" dirty="0"/>
            </a:br>
            <a:r>
              <a:rPr lang="en-US" sz="2200" dirty="0">
                <a:latin typeface="Times New Roman" panose="02020603050405020304" pitchFamily="18" charset="0"/>
                <a:cs typeface="Times New Roman" panose="02020603050405020304" pitchFamily="18" charset="0"/>
              </a:rPr>
              <a:t>This page allows registered users to log into the system using their credentials. It ensures secure authentication and prevents unauthorized access to the platform.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Registration Page</a:t>
            </a:r>
            <a:br>
              <a:rPr lang="en-US" dirty="0"/>
            </a:br>
            <a:r>
              <a:rPr lang="en-US" sz="2200" dirty="0">
                <a:latin typeface="Times New Roman" panose="02020603050405020304" pitchFamily="18" charset="0"/>
                <a:cs typeface="Times New Roman" panose="02020603050405020304" pitchFamily="18" charset="0"/>
              </a:rPr>
              <a:t>New users can create an account by entering details such as name, email, and password. The system validates and stores the data securely.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Profile Management Page</a:t>
            </a:r>
            <a:br>
              <a:rPr lang="en-US" dirty="0"/>
            </a:br>
            <a:r>
              <a:rPr lang="en-US" sz="2200" dirty="0">
                <a:latin typeface="Times New Roman" panose="02020603050405020304" pitchFamily="18" charset="0"/>
                <a:cs typeface="Times New Roman" panose="02020603050405020304" pitchFamily="18" charset="0"/>
              </a:rPr>
              <a:t>Users can update personal details, change passwords, and manage preferences to customize their experience. </a:t>
            </a:r>
          </a:p>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Booking History Page</a:t>
            </a:r>
            <a:br>
              <a:rPr lang="en-US" dirty="0"/>
            </a:br>
            <a:r>
              <a:rPr lang="en-US" sz="2200" dirty="0">
                <a:latin typeface="Times New Roman" panose="02020603050405020304" pitchFamily="18" charset="0"/>
                <a:cs typeface="Times New Roman" panose="02020603050405020304" pitchFamily="18" charset="0"/>
              </a:rPr>
              <a:t>This page shows all past and present bookings, helping users track their travel records easily. </a:t>
            </a:r>
          </a:p>
        </p:txBody>
      </p:sp>
      <p:grpSp>
        <p:nvGrpSpPr>
          <p:cNvPr id="2" name="Group">
            <a:extLst>
              <a:ext uri="{FF2B5EF4-FFF2-40B4-BE49-F238E27FC236}">
                <a16:creationId xmlns:a16="http://schemas.microsoft.com/office/drawing/2014/main" id="{B59C4B0F-2385-9DF8-F495-0A5D36634983}"/>
              </a:ext>
            </a:extLst>
          </p:cNvPr>
          <p:cNvGrpSpPr/>
          <p:nvPr/>
        </p:nvGrpSpPr>
        <p:grpSpPr>
          <a:xfrm>
            <a:off x="5732206" y="0"/>
            <a:ext cx="3411794" cy="762000"/>
            <a:chOff x="0" y="0"/>
            <a:chExt cx="3048000" cy="762000"/>
          </a:xfrm>
        </p:grpSpPr>
        <p:sp>
          <p:nvSpPr>
            <p:cNvPr id="4" name="Rectangle">
              <a:extLst>
                <a:ext uri="{FF2B5EF4-FFF2-40B4-BE49-F238E27FC236}">
                  <a16:creationId xmlns:a16="http://schemas.microsoft.com/office/drawing/2014/main" id="{E42281AC-18C2-8E48-CCBA-62D3BFE9445A}"/>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5" name="REFERENCES">
              <a:extLst>
                <a:ext uri="{FF2B5EF4-FFF2-40B4-BE49-F238E27FC236}">
                  <a16:creationId xmlns:a16="http://schemas.microsoft.com/office/drawing/2014/main" id="{69B54F36-2BC8-1AFD-AB73-1FC307B78B30}"/>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MODULE 1</a:t>
              </a:r>
              <a:endParaRPr dirty="0"/>
            </a:p>
          </p:txBody>
        </p:sp>
      </p:grpSp>
      <p:sp>
        <p:nvSpPr>
          <p:cNvPr id="7" name="TextBox 6">
            <a:extLst>
              <a:ext uri="{FF2B5EF4-FFF2-40B4-BE49-F238E27FC236}">
                <a16:creationId xmlns:a16="http://schemas.microsoft.com/office/drawing/2014/main" id="{FED9FA1C-69C8-FBDD-1C0D-3CC3B709F2F6}"/>
              </a:ext>
            </a:extLst>
          </p:cNvPr>
          <p:cNvSpPr txBox="1"/>
          <p:nvPr/>
        </p:nvSpPr>
        <p:spPr>
          <a:xfrm>
            <a:off x="147483" y="1048550"/>
            <a:ext cx="7364361" cy="461665"/>
          </a:xfrm>
          <a:prstGeom prst="rect">
            <a:avLst/>
          </a:prstGeom>
          <a:noFill/>
        </p:spPr>
        <p:txBody>
          <a:bodyPr wrap="square">
            <a:spAutoFit/>
          </a:bodyPr>
          <a:lstStyle/>
          <a:p>
            <a:r>
              <a:rPr lang="en-US" sz="2400" dirty="0">
                <a:latin typeface="Algerian" panose="04020705040A02060702" pitchFamily="82" charset="0"/>
                <a:cs typeface="Times New Roman" panose="02020603050405020304" pitchFamily="18" charset="0"/>
              </a:rPr>
              <a:t>USER ACCESS &amp; SECURITY MANAGEMENT</a:t>
            </a:r>
            <a:endParaRPr lang="en-IN" sz="2400" dirty="0">
              <a:latin typeface="Algerian" panose="04020705040A02060702" pitchFamily="82" charset="0"/>
            </a:endParaRPr>
          </a:p>
        </p:txBody>
      </p:sp>
    </p:spTree>
    <p:extLst>
      <p:ext uri="{BB962C8B-B14F-4D97-AF65-F5344CB8AC3E}">
        <p14:creationId xmlns:p14="http://schemas.microsoft.com/office/powerpoint/2010/main" val="3006182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13A88A8-92FC-C43E-15B9-4FB146DA92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6812" y="62680"/>
            <a:ext cx="4432382" cy="2770239"/>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a:extLst>
              <a:ext uri="{FF2B5EF4-FFF2-40B4-BE49-F238E27FC236}">
                <a16:creationId xmlns:a16="http://schemas.microsoft.com/office/drawing/2014/main" id="{D39B973C-8986-AD5A-0813-B20139711C6C}"/>
              </a:ext>
            </a:extLst>
          </p:cNvPr>
          <p:cNvGrpSpPr/>
          <p:nvPr/>
        </p:nvGrpSpPr>
        <p:grpSpPr>
          <a:xfrm>
            <a:off x="5732206" y="0"/>
            <a:ext cx="3411794" cy="762000"/>
            <a:chOff x="0" y="0"/>
            <a:chExt cx="3048000" cy="762000"/>
          </a:xfrm>
        </p:grpSpPr>
        <p:sp>
          <p:nvSpPr>
            <p:cNvPr id="3" name="Rectangle">
              <a:extLst>
                <a:ext uri="{FF2B5EF4-FFF2-40B4-BE49-F238E27FC236}">
                  <a16:creationId xmlns:a16="http://schemas.microsoft.com/office/drawing/2014/main" id="{F95D0C51-D28D-DAEA-F4D6-5E917944F75F}"/>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4" name="REFERENCES">
              <a:extLst>
                <a:ext uri="{FF2B5EF4-FFF2-40B4-BE49-F238E27FC236}">
                  <a16:creationId xmlns:a16="http://schemas.microsoft.com/office/drawing/2014/main" id="{ADC66EF9-6923-E785-AA93-541870E4499A}"/>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MODULE 1</a:t>
              </a:r>
              <a:endParaRPr dirty="0"/>
            </a:p>
          </p:txBody>
        </p:sp>
      </p:grpSp>
      <p:sp>
        <p:nvSpPr>
          <p:cNvPr id="5" name="AutoShape 2" descr="Travel Login Page UI Design | Figma">
            <a:extLst>
              <a:ext uri="{FF2B5EF4-FFF2-40B4-BE49-F238E27FC236}">
                <a16:creationId xmlns:a16="http://schemas.microsoft.com/office/drawing/2014/main" id="{1113EAEE-CA61-3B13-1299-00A7C347D0C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Travel Login Page UI Design | Figma">
            <a:extLst>
              <a:ext uri="{FF2B5EF4-FFF2-40B4-BE49-F238E27FC236}">
                <a16:creationId xmlns:a16="http://schemas.microsoft.com/office/drawing/2014/main" id="{2CBAF9EE-B545-0A5C-EFD2-BBC258096A04}"/>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D439CAE2-0140-3BBE-3F95-D7C2F37858F0}"/>
              </a:ext>
            </a:extLst>
          </p:cNvPr>
          <p:cNvPicPr>
            <a:picLocks noChangeAspect="1"/>
          </p:cNvPicPr>
          <p:nvPr/>
        </p:nvPicPr>
        <p:blipFill>
          <a:blip r:embed="rId3"/>
          <a:stretch>
            <a:fillRect/>
          </a:stretch>
        </p:blipFill>
        <p:spPr>
          <a:xfrm>
            <a:off x="297180" y="3276600"/>
            <a:ext cx="8244840" cy="3429000"/>
          </a:xfrm>
          <a:prstGeom prst="rect">
            <a:avLst/>
          </a:prstGeom>
        </p:spPr>
      </p:pic>
    </p:spTree>
    <p:extLst>
      <p:ext uri="{BB962C8B-B14F-4D97-AF65-F5344CB8AC3E}">
        <p14:creationId xmlns:p14="http://schemas.microsoft.com/office/powerpoint/2010/main" val="393073133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dit Profile Website Design by Zeerak Haroon on Dribbble">
            <a:extLst>
              <a:ext uri="{FF2B5EF4-FFF2-40B4-BE49-F238E27FC236}">
                <a16:creationId xmlns:a16="http://schemas.microsoft.com/office/drawing/2014/main" id="{33246823-E9F0-0E4B-9A35-14D2ED9D9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742950"/>
            <a:ext cx="7162800" cy="53721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143C6B7-D454-D3EF-EF8B-1D3FDE1B0924}"/>
              </a:ext>
            </a:extLst>
          </p:cNvPr>
          <p:cNvSpPr txBox="1"/>
          <p:nvPr/>
        </p:nvSpPr>
        <p:spPr>
          <a:xfrm>
            <a:off x="555522" y="120134"/>
            <a:ext cx="4572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Profile page</a:t>
            </a:r>
            <a:endParaRPr lang="en-IN" dirty="0"/>
          </a:p>
        </p:txBody>
      </p:sp>
    </p:spTree>
    <p:extLst>
      <p:ext uri="{BB962C8B-B14F-4D97-AF65-F5344CB8AC3E}">
        <p14:creationId xmlns:p14="http://schemas.microsoft.com/office/powerpoint/2010/main" val="3010216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5496D5-C744-4701-E011-294A957D7439}"/>
              </a:ext>
            </a:extLst>
          </p:cNvPr>
          <p:cNvSpPr txBox="1"/>
          <p:nvPr/>
        </p:nvSpPr>
        <p:spPr>
          <a:xfrm>
            <a:off x="147485" y="1030801"/>
            <a:ext cx="8790038" cy="4955203"/>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Driver Listing Page</a:t>
            </a:r>
            <a:br>
              <a:rPr lang="en-US" dirty="0"/>
            </a:br>
            <a:r>
              <a:rPr lang="en-US" sz="2200" dirty="0">
                <a:latin typeface="Times New Roman" panose="02020603050405020304" pitchFamily="18" charset="0"/>
                <a:cs typeface="Times New Roman" panose="02020603050405020304" pitchFamily="18" charset="0"/>
              </a:rPr>
              <a:t>Displays all available drivers along with their vehicle type, ratings, and basic information for easy selection</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Driver Profile Page</a:t>
            </a:r>
            <a:br>
              <a:rPr lang="en-US" dirty="0"/>
            </a:br>
            <a:r>
              <a:rPr lang="en-US" sz="2200" dirty="0">
                <a:latin typeface="Times New Roman" panose="02020603050405020304" pitchFamily="18" charset="0"/>
                <a:cs typeface="Times New Roman" panose="02020603050405020304" pitchFamily="18" charset="0"/>
              </a:rPr>
              <a:t>Shows complete details of drivers including experience, reviews, and service history to help users choose the best option</a:t>
            </a:r>
            <a:r>
              <a:rPr lang="en-US" sz="23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Driver Availability Page</a:t>
            </a:r>
            <a:br>
              <a:rPr lang="en-US" dirty="0"/>
            </a:br>
            <a:r>
              <a:rPr lang="en-US" sz="2200" dirty="0">
                <a:latin typeface="Times New Roman" panose="02020603050405020304" pitchFamily="18" charset="0"/>
                <a:cs typeface="Times New Roman" panose="02020603050405020304" pitchFamily="18" charset="0"/>
              </a:rPr>
              <a:t>Indicates whether drivers are online or offline, allowing users to book only available drivers.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Driver Booking Page</a:t>
            </a:r>
            <a:br>
              <a:rPr lang="en-US" dirty="0"/>
            </a:br>
            <a:r>
              <a:rPr lang="en-US" sz="2200" dirty="0">
                <a:latin typeface="Times New Roman" panose="02020603050405020304" pitchFamily="18" charset="0"/>
                <a:cs typeface="Times New Roman" panose="02020603050405020304" pitchFamily="18" charset="0"/>
              </a:rPr>
              <a:t>Users can select a driver and confirm their ride based on their travel requirements</a:t>
            </a:r>
            <a:r>
              <a:rPr lang="en-US" sz="2200" dirty="0"/>
              <a:t>.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Trip Details Page</a:t>
            </a:r>
            <a:br>
              <a:rPr lang="en-US" dirty="0"/>
            </a:br>
            <a:r>
              <a:rPr lang="en-US" sz="2000" dirty="0">
                <a:latin typeface="Times New Roman" panose="02020603050405020304" pitchFamily="18" charset="0"/>
                <a:cs typeface="Times New Roman" panose="02020603050405020304" pitchFamily="18" charset="0"/>
              </a:rPr>
              <a:t>Displays complete trip information such as route, timing, and driver details. </a:t>
            </a:r>
          </a:p>
        </p:txBody>
      </p:sp>
      <p:grpSp>
        <p:nvGrpSpPr>
          <p:cNvPr id="6" name="Group">
            <a:extLst>
              <a:ext uri="{FF2B5EF4-FFF2-40B4-BE49-F238E27FC236}">
                <a16:creationId xmlns:a16="http://schemas.microsoft.com/office/drawing/2014/main" id="{08119B71-FCF9-EBED-AE29-6357AAD3C55F}"/>
              </a:ext>
            </a:extLst>
          </p:cNvPr>
          <p:cNvGrpSpPr/>
          <p:nvPr/>
        </p:nvGrpSpPr>
        <p:grpSpPr>
          <a:xfrm>
            <a:off x="5732206" y="0"/>
            <a:ext cx="3411794" cy="762000"/>
            <a:chOff x="0" y="0"/>
            <a:chExt cx="3048000" cy="762000"/>
          </a:xfrm>
        </p:grpSpPr>
        <p:sp>
          <p:nvSpPr>
            <p:cNvPr id="7" name="Rectangle">
              <a:extLst>
                <a:ext uri="{FF2B5EF4-FFF2-40B4-BE49-F238E27FC236}">
                  <a16:creationId xmlns:a16="http://schemas.microsoft.com/office/drawing/2014/main" id="{1082B2FB-1A0B-793E-31B6-AE5502AC410B}"/>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8" name="REFERENCES">
              <a:extLst>
                <a:ext uri="{FF2B5EF4-FFF2-40B4-BE49-F238E27FC236}">
                  <a16:creationId xmlns:a16="http://schemas.microsoft.com/office/drawing/2014/main" id="{A211AC04-F078-1D0B-696B-E5FD03600DA7}"/>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MODULE 2</a:t>
              </a:r>
              <a:endParaRPr dirty="0"/>
            </a:p>
          </p:txBody>
        </p:sp>
      </p:grpSp>
      <p:sp>
        <p:nvSpPr>
          <p:cNvPr id="10" name="TextBox 9">
            <a:extLst>
              <a:ext uri="{FF2B5EF4-FFF2-40B4-BE49-F238E27FC236}">
                <a16:creationId xmlns:a16="http://schemas.microsoft.com/office/drawing/2014/main" id="{23ECBB4F-2C91-0AD4-238C-106BE14632ED}"/>
              </a:ext>
            </a:extLst>
          </p:cNvPr>
          <p:cNvSpPr txBox="1"/>
          <p:nvPr/>
        </p:nvSpPr>
        <p:spPr>
          <a:xfrm>
            <a:off x="-88490" y="240639"/>
            <a:ext cx="5997677" cy="461665"/>
          </a:xfrm>
          <a:prstGeom prst="rect">
            <a:avLst/>
          </a:prstGeom>
          <a:noFill/>
        </p:spPr>
        <p:txBody>
          <a:bodyPr wrap="square">
            <a:spAutoFit/>
          </a:bodyPr>
          <a:lstStyle/>
          <a:p>
            <a:r>
              <a:rPr lang="en-IN" sz="2300" dirty="0">
                <a:latin typeface="Algerian" panose="04020705040A02060702" pitchFamily="82" charset="0"/>
                <a:cs typeface="Times New Roman" panose="02020603050405020304" pitchFamily="18" charset="0"/>
              </a:rPr>
              <a:t>DRIVER OPERATIONS &amp; CONTROL SYSTEM</a:t>
            </a:r>
            <a:endParaRPr lang="en-IN" sz="2300" dirty="0">
              <a:latin typeface="Algerian" panose="04020705040A02060702" pitchFamily="82" charset="0"/>
            </a:endParaRPr>
          </a:p>
        </p:txBody>
      </p:sp>
    </p:spTree>
    <p:extLst>
      <p:ext uri="{BB962C8B-B14F-4D97-AF65-F5344CB8AC3E}">
        <p14:creationId xmlns:p14="http://schemas.microsoft.com/office/powerpoint/2010/main" val="84773005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Taxi Booking App by Ronas IT | UI/UX Team on Dribbble">
            <a:extLst>
              <a:ext uri="{FF2B5EF4-FFF2-40B4-BE49-F238E27FC236}">
                <a16:creationId xmlns:a16="http://schemas.microsoft.com/office/drawing/2014/main" id="{9C3E2E89-0533-9E43-DE5D-AF6875AB1F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8142" y="1216741"/>
            <a:ext cx="7167716" cy="53757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a:extLst>
              <a:ext uri="{FF2B5EF4-FFF2-40B4-BE49-F238E27FC236}">
                <a16:creationId xmlns:a16="http://schemas.microsoft.com/office/drawing/2014/main" id="{7A82072D-F508-8E6A-86F6-1096F3557E54}"/>
              </a:ext>
            </a:extLst>
          </p:cNvPr>
          <p:cNvGrpSpPr/>
          <p:nvPr/>
        </p:nvGrpSpPr>
        <p:grpSpPr>
          <a:xfrm>
            <a:off x="5732206" y="0"/>
            <a:ext cx="3411794" cy="762000"/>
            <a:chOff x="0" y="0"/>
            <a:chExt cx="3048000" cy="762000"/>
          </a:xfrm>
        </p:grpSpPr>
        <p:sp>
          <p:nvSpPr>
            <p:cNvPr id="5" name="Rectangle">
              <a:extLst>
                <a:ext uri="{FF2B5EF4-FFF2-40B4-BE49-F238E27FC236}">
                  <a16:creationId xmlns:a16="http://schemas.microsoft.com/office/drawing/2014/main" id="{ADE7B7E7-6536-B0A8-0DDC-D435AB4C1E18}"/>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6" name="REFERENCES">
              <a:extLst>
                <a:ext uri="{FF2B5EF4-FFF2-40B4-BE49-F238E27FC236}">
                  <a16:creationId xmlns:a16="http://schemas.microsoft.com/office/drawing/2014/main" id="{A46743A0-FFAA-BC55-2E9F-7FEF3C00CCF0}"/>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MODULE 2</a:t>
              </a:r>
              <a:endParaRPr dirty="0"/>
            </a:p>
          </p:txBody>
        </p:sp>
      </p:grpSp>
    </p:spTree>
    <p:extLst>
      <p:ext uri="{BB962C8B-B14F-4D97-AF65-F5344CB8AC3E}">
        <p14:creationId xmlns:p14="http://schemas.microsoft.com/office/powerpoint/2010/main" val="274040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B42603-2F30-BBDF-37A6-780572EB00EA}"/>
              </a:ext>
            </a:extLst>
          </p:cNvPr>
          <p:cNvSpPr txBox="1"/>
          <p:nvPr/>
        </p:nvSpPr>
        <p:spPr>
          <a:xfrm>
            <a:off x="127819" y="1375779"/>
            <a:ext cx="8888361" cy="5324535"/>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Package Listing Page</a:t>
            </a:r>
            <a:br>
              <a:rPr lang="en-US" dirty="0"/>
            </a:br>
            <a:r>
              <a:rPr lang="en-US" sz="2200" dirty="0">
                <a:latin typeface="Times New Roman" panose="02020603050405020304" pitchFamily="18" charset="0"/>
                <a:cs typeface="Times New Roman" panose="02020603050405020304" pitchFamily="18" charset="0"/>
              </a:rPr>
              <a:t>Displays all available travel packages with destination, price, and duration details.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Package Details Page</a:t>
            </a:r>
            <a:br>
              <a:rPr lang="en-US" dirty="0"/>
            </a:br>
            <a:r>
              <a:rPr lang="en-US" sz="2200" dirty="0">
                <a:latin typeface="Times New Roman" panose="02020603050405020304" pitchFamily="18" charset="0"/>
                <a:cs typeface="Times New Roman" panose="02020603050405020304" pitchFamily="18" charset="0"/>
              </a:rPr>
              <a:t>Provides complete itinerary including accommodation, transportation, and sightseeing details.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Destination Page</a:t>
            </a:r>
            <a:br>
              <a:rPr lang="en-US" sz="2400" dirty="0">
                <a:latin typeface="Times New Roman" panose="02020603050405020304" pitchFamily="18" charset="0"/>
                <a:cs typeface="Times New Roman" panose="02020603050405020304" pitchFamily="18" charset="0"/>
              </a:rPr>
            </a:br>
            <a:r>
              <a:rPr lang="en-US" sz="2200" dirty="0"/>
              <a:t>Shows popular tourist destinations with images and basic travel information.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Package Booking Page</a:t>
            </a:r>
            <a:br>
              <a:rPr lang="en-US" dirty="0"/>
            </a:br>
            <a:r>
              <a:rPr lang="en-US" sz="2200" dirty="0"/>
              <a:t>Allows users to select travel dates and confirm their tour package booking.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Custom Package Page</a:t>
            </a:r>
            <a:br>
              <a:rPr lang="en-US" dirty="0"/>
            </a:br>
            <a:r>
              <a:rPr lang="en-US" sz="2200" dirty="0"/>
              <a:t>Enables users to request personalized travel plans based on their preferences. </a:t>
            </a:r>
          </a:p>
        </p:txBody>
      </p:sp>
      <p:grpSp>
        <p:nvGrpSpPr>
          <p:cNvPr id="5" name="Group">
            <a:extLst>
              <a:ext uri="{FF2B5EF4-FFF2-40B4-BE49-F238E27FC236}">
                <a16:creationId xmlns:a16="http://schemas.microsoft.com/office/drawing/2014/main" id="{27F2A8EE-B3BB-7246-BA8C-2917506EC774}"/>
              </a:ext>
            </a:extLst>
          </p:cNvPr>
          <p:cNvGrpSpPr/>
          <p:nvPr/>
        </p:nvGrpSpPr>
        <p:grpSpPr>
          <a:xfrm>
            <a:off x="5732206" y="0"/>
            <a:ext cx="3411794" cy="762000"/>
            <a:chOff x="0" y="0"/>
            <a:chExt cx="3048000" cy="762000"/>
          </a:xfrm>
        </p:grpSpPr>
        <p:sp>
          <p:nvSpPr>
            <p:cNvPr id="6" name="Rectangle">
              <a:extLst>
                <a:ext uri="{FF2B5EF4-FFF2-40B4-BE49-F238E27FC236}">
                  <a16:creationId xmlns:a16="http://schemas.microsoft.com/office/drawing/2014/main" id="{4D882B79-AC5C-A43B-8BDB-A1FCB7810281}"/>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7" name="REFERENCES">
              <a:extLst>
                <a:ext uri="{FF2B5EF4-FFF2-40B4-BE49-F238E27FC236}">
                  <a16:creationId xmlns:a16="http://schemas.microsoft.com/office/drawing/2014/main" id="{E28B3E91-02D8-DB46-676C-625865743FA7}"/>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MODULE 3</a:t>
              </a:r>
              <a:endParaRPr dirty="0"/>
            </a:p>
          </p:txBody>
        </p:sp>
      </p:grpSp>
      <p:sp>
        <p:nvSpPr>
          <p:cNvPr id="9" name="TextBox 8">
            <a:extLst>
              <a:ext uri="{FF2B5EF4-FFF2-40B4-BE49-F238E27FC236}">
                <a16:creationId xmlns:a16="http://schemas.microsoft.com/office/drawing/2014/main" id="{F867941E-3A34-4DC5-D331-28267BACEBAD}"/>
              </a:ext>
            </a:extLst>
          </p:cNvPr>
          <p:cNvSpPr txBox="1"/>
          <p:nvPr/>
        </p:nvSpPr>
        <p:spPr>
          <a:xfrm>
            <a:off x="9831" y="642609"/>
            <a:ext cx="6430297" cy="430887"/>
          </a:xfrm>
          <a:prstGeom prst="rect">
            <a:avLst/>
          </a:prstGeom>
          <a:noFill/>
        </p:spPr>
        <p:txBody>
          <a:bodyPr wrap="square">
            <a:spAutoFit/>
          </a:bodyPr>
          <a:lstStyle/>
          <a:p>
            <a:r>
              <a:rPr lang="en-IN" sz="2200" dirty="0">
                <a:latin typeface="Algerian" panose="04020705040A02060702" pitchFamily="82" charset="0"/>
                <a:cs typeface="Times New Roman" panose="02020603050405020304" pitchFamily="18" charset="0"/>
              </a:rPr>
              <a:t>SMART TOUR PACKAGE HANDLING SYSTEM</a:t>
            </a:r>
            <a:endParaRPr lang="en-IN" sz="2200" dirty="0">
              <a:latin typeface="Algerian" panose="04020705040A02060702" pitchFamily="82" charset="0"/>
            </a:endParaRPr>
          </a:p>
        </p:txBody>
      </p:sp>
    </p:spTree>
    <p:extLst>
      <p:ext uri="{BB962C8B-B14F-4D97-AF65-F5344CB8AC3E}">
        <p14:creationId xmlns:p14="http://schemas.microsoft.com/office/powerpoint/2010/main" val="1919296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8AAC94-E615-B7C9-C615-1F475A14009A}"/>
              </a:ext>
            </a:extLst>
          </p:cNvPr>
          <p:cNvPicPr>
            <a:picLocks noChangeAspect="1"/>
          </p:cNvPicPr>
          <p:nvPr/>
        </p:nvPicPr>
        <p:blipFill>
          <a:blip r:embed="rId2"/>
          <a:stretch>
            <a:fillRect/>
          </a:stretch>
        </p:blipFill>
        <p:spPr>
          <a:xfrm>
            <a:off x="304800" y="1321824"/>
            <a:ext cx="8298425" cy="4646356"/>
          </a:xfrm>
          <a:prstGeom prst="rect">
            <a:avLst/>
          </a:prstGeom>
        </p:spPr>
      </p:pic>
      <p:grpSp>
        <p:nvGrpSpPr>
          <p:cNvPr id="4" name="Group">
            <a:extLst>
              <a:ext uri="{FF2B5EF4-FFF2-40B4-BE49-F238E27FC236}">
                <a16:creationId xmlns:a16="http://schemas.microsoft.com/office/drawing/2014/main" id="{96B45D8D-AE18-801C-1493-55482F085E2E}"/>
              </a:ext>
            </a:extLst>
          </p:cNvPr>
          <p:cNvGrpSpPr/>
          <p:nvPr/>
        </p:nvGrpSpPr>
        <p:grpSpPr>
          <a:xfrm>
            <a:off x="5732206" y="0"/>
            <a:ext cx="3411794" cy="762000"/>
            <a:chOff x="0" y="0"/>
            <a:chExt cx="3048000" cy="762000"/>
          </a:xfrm>
        </p:grpSpPr>
        <p:sp>
          <p:nvSpPr>
            <p:cNvPr id="5" name="Rectangle">
              <a:extLst>
                <a:ext uri="{FF2B5EF4-FFF2-40B4-BE49-F238E27FC236}">
                  <a16:creationId xmlns:a16="http://schemas.microsoft.com/office/drawing/2014/main" id="{2A13A81F-0D7D-D255-5422-B131A625110B}"/>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6" name="REFERENCES">
              <a:extLst>
                <a:ext uri="{FF2B5EF4-FFF2-40B4-BE49-F238E27FC236}">
                  <a16:creationId xmlns:a16="http://schemas.microsoft.com/office/drawing/2014/main" id="{F29C5D03-42D0-AF44-D2A4-251F7E6989B6}"/>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MODULE 3</a:t>
              </a:r>
              <a:endParaRPr dirty="0"/>
            </a:p>
          </p:txBody>
        </p:sp>
      </p:grpSp>
    </p:spTree>
    <p:extLst>
      <p:ext uri="{BB962C8B-B14F-4D97-AF65-F5344CB8AC3E}">
        <p14:creationId xmlns:p14="http://schemas.microsoft.com/office/powerpoint/2010/main" val="2708453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C740BB-C007-218F-ADF5-F2503FFBBCB7}"/>
              </a:ext>
            </a:extLst>
          </p:cNvPr>
          <p:cNvPicPr>
            <a:picLocks noChangeAspect="1"/>
          </p:cNvPicPr>
          <p:nvPr/>
        </p:nvPicPr>
        <p:blipFill>
          <a:blip r:embed="rId2"/>
          <a:stretch>
            <a:fillRect/>
          </a:stretch>
        </p:blipFill>
        <p:spPr>
          <a:xfrm>
            <a:off x="147415" y="0"/>
            <a:ext cx="8849169" cy="4416297"/>
          </a:xfrm>
          <a:prstGeom prst="rect">
            <a:avLst/>
          </a:prstGeom>
        </p:spPr>
      </p:pic>
      <p:pic>
        <p:nvPicPr>
          <p:cNvPr id="6" name="Picture 5">
            <a:extLst>
              <a:ext uri="{FF2B5EF4-FFF2-40B4-BE49-F238E27FC236}">
                <a16:creationId xmlns:a16="http://schemas.microsoft.com/office/drawing/2014/main" id="{C67CD85C-11BF-1807-C44B-EAEEB1EBEE8C}"/>
              </a:ext>
            </a:extLst>
          </p:cNvPr>
          <p:cNvPicPr>
            <a:picLocks noChangeAspect="1"/>
          </p:cNvPicPr>
          <p:nvPr/>
        </p:nvPicPr>
        <p:blipFill>
          <a:blip r:embed="rId3"/>
          <a:stretch>
            <a:fillRect/>
          </a:stretch>
        </p:blipFill>
        <p:spPr>
          <a:xfrm>
            <a:off x="1290484" y="3848100"/>
            <a:ext cx="7155426" cy="3009900"/>
          </a:xfrm>
          <a:prstGeom prst="rect">
            <a:avLst/>
          </a:prstGeom>
        </p:spPr>
      </p:pic>
    </p:spTree>
    <p:extLst>
      <p:ext uri="{BB962C8B-B14F-4D97-AF65-F5344CB8AC3E}">
        <p14:creationId xmlns:p14="http://schemas.microsoft.com/office/powerpoint/2010/main" val="4206258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65A5CE-9DDF-B6CD-917D-E72B45D841AA}"/>
              </a:ext>
            </a:extLst>
          </p:cNvPr>
          <p:cNvSpPr txBox="1"/>
          <p:nvPr/>
        </p:nvSpPr>
        <p:spPr>
          <a:xfrm>
            <a:off x="231648" y="1328536"/>
            <a:ext cx="8680704" cy="5324535"/>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Admin Dashboard</a:t>
            </a:r>
            <a:br>
              <a:rPr lang="en-US" dirty="0"/>
            </a:br>
            <a:r>
              <a:rPr lang="en-US" sz="2200" dirty="0">
                <a:latin typeface="Times New Roman" panose="02020603050405020304" pitchFamily="18" charset="0"/>
                <a:cs typeface="Times New Roman" panose="02020603050405020304" pitchFamily="18" charset="0"/>
              </a:rPr>
              <a:t>Displays overall system data such as total users, bookings, and revenue in a summarized form. </a:t>
            </a:r>
          </a:p>
          <a:p>
            <a:pPr marL="342900" indent="-342900">
              <a:buFont typeface="Wingdings" panose="05000000000000000000" pitchFamily="2" charset="2"/>
              <a:buChar char="Ø"/>
            </a:pPr>
            <a:r>
              <a:rPr lang="en-US" sz="2400" b="1" dirty="0"/>
              <a:t>User Management Page</a:t>
            </a:r>
            <a:br>
              <a:rPr lang="en-US" dirty="0"/>
            </a:br>
            <a:r>
              <a:rPr lang="en-US" sz="2200" dirty="0">
                <a:latin typeface="Times New Roman" panose="02020603050405020304" pitchFamily="18" charset="0"/>
                <a:cs typeface="Times New Roman" panose="02020603050405020304" pitchFamily="18" charset="0"/>
              </a:rPr>
              <a:t>Allows admin to view, update, or delete user accounts and monitor user activities. </a:t>
            </a:r>
          </a:p>
          <a:p>
            <a:pPr marL="342900" indent="-342900">
              <a:buFont typeface="Wingdings" panose="05000000000000000000" pitchFamily="2" charset="2"/>
              <a:buChar char="Ø"/>
            </a:pPr>
            <a:r>
              <a:rPr lang="en-US" sz="2400" b="1" dirty="0"/>
              <a:t>Driver Management Page</a:t>
            </a:r>
            <a:br>
              <a:rPr lang="en-US" sz="2400" dirty="0"/>
            </a:br>
            <a:r>
              <a:rPr lang="en-US" sz="2200" dirty="0">
                <a:latin typeface="Times New Roman" panose="02020603050405020304" pitchFamily="18" charset="0"/>
                <a:cs typeface="Times New Roman" panose="02020603050405020304" pitchFamily="18" charset="0"/>
              </a:rPr>
              <a:t>Admin can verify driver details, manage availability, and maintain driver records.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Package Management Page</a:t>
            </a:r>
            <a:br>
              <a:rPr lang="en-US" dirty="0"/>
            </a:br>
            <a:r>
              <a:rPr lang="en-US" sz="2200" dirty="0">
                <a:latin typeface="Times New Roman" panose="02020603050405020304" pitchFamily="18" charset="0"/>
                <a:cs typeface="Times New Roman" panose="02020603050405020304" pitchFamily="18" charset="0"/>
              </a:rPr>
              <a:t>Enables admin to add, update, or remove tour packages based on requirements.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Reports &amp; Analytics Page</a:t>
            </a:r>
            <a:br>
              <a:rPr lang="en-US" dirty="0">
                <a:latin typeface="Times New Roman" panose="02020603050405020304" pitchFamily="18" charset="0"/>
                <a:cs typeface="Times New Roman" panose="02020603050405020304" pitchFamily="18" charset="0"/>
              </a:rPr>
            </a:br>
            <a:r>
              <a:rPr lang="en-US" sz="2200" dirty="0"/>
              <a:t>Provides detailed insights into bookings, revenue, and system performance. </a:t>
            </a:r>
          </a:p>
        </p:txBody>
      </p:sp>
      <p:grpSp>
        <p:nvGrpSpPr>
          <p:cNvPr id="2" name="Group">
            <a:extLst>
              <a:ext uri="{FF2B5EF4-FFF2-40B4-BE49-F238E27FC236}">
                <a16:creationId xmlns:a16="http://schemas.microsoft.com/office/drawing/2014/main" id="{00D50997-22CC-DDF8-6A13-F1764671B835}"/>
              </a:ext>
            </a:extLst>
          </p:cNvPr>
          <p:cNvGrpSpPr/>
          <p:nvPr/>
        </p:nvGrpSpPr>
        <p:grpSpPr>
          <a:xfrm>
            <a:off x="5732206" y="0"/>
            <a:ext cx="3411794" cy="762000"/>
            <a:chOff x="0" y="0"/>
            <a:chExt cx="3048000" cy="762000"/>
          </a:xfrm>
        </p:grpSpPr>
        <p:sp>
          <p:nvSpPr>
            <p:cNvPr id="4" name="Rectangle">
              <a:extLst>
                <a:ext uri="{FF2B5EF4-FFF2-40B4-BE49-F238E27FC236}">
                  <a16:creationId xmlns:a16="http://schemas.microsoft.com/office/drawing/2014/main" id="{BD71A5D3-F3F3-BE84-CA9E-9C4B2D9918E9}"/>
                </a:ext>
              </a:extLst>
            </p:cNvPr>
            <p:cNvSpPr/>
            <p:nvPr/>
          </p:nvSpPr>
          <p:spPr>
            <a:xfrm>
              <a:off x="0" y="0"/>
              <a:ext cx="3048000" cy="762000"/>
            </a:xfrm>
            <a:prstGeom prst="rect">
              <a:avLst/>
            </a:prstGeom>
            <a:solidFill>
              <a:srgbClr val="C00000"/>
            </a:solidFill>
            <a:ln w="25400" cap="flat">
              <a:solidFill>
                <a:srgbClr val="385D8A"/>
              </a:solidFill>
              <a:prstDash val="solid"/>
              <a:round/>
            </a:ln>
            <a:effectLst/>
          </p:spPr>
          <p:txBody>
            <a:bodyPr wrap="square" lIns="45719" tIns="45719" rIns="45719" bIns="45719" numCol="1" anchor="ctr">
              <a:noAutofit/>
            </a:bodyPr>
            <a:lstStyle/>
            <a:p>
              <a:pPr algn="ctr">
                <a:defRPr sz="2800" b="1">
                  <a:solidFill>
                    <a:srgbClr val="FFFFFF"/>
                  </a:solidFill>
                </a:defRPr>
              </a:pPr>
              <a:endParaRPr/>
            </a:p>
          </p:txBody>
        </p:sp>
        <p:sp>
          <p:nvSpPr>
            <p:cNvPr id="5" name="REFERENCES">
              <a:extLst>
                <a:ext uri="{FF2B5EF4-FFF2-40B4-BE49-F238E27FC236}">
                  <a16:creationId xmlns:a16="http://schemas.microsoft.com/office/drawing/2014/main" id="{098BBB85-AC22-2ADC-0CD7-E4FB9CD90B61}"/>
                </a:ext>
              </a:extLst>
            </p:cNvPr>
            <p:cNvSpPr txBox="1"/>
            <p:nvPr/>
          </p:nvSpPr>
          <p:spPr>
            <a:xfrm>
              <a:off x="0" y="119391"/>
              <a:ext cx="3048000" cy="523218"/>
            </a:xfrm>
            <a:prstGeom prst="rect">
              <a:avLst/>
            </a:prstGeom>
            <a:noFill/>
            <a:ln w="12700" cap="flat">
              <a:noFill/>
              <a:miter lim="400000"/>
            </a:ln>
            <a:effectLst/>
          </p:spPr>
          <p:txBody>
            <a:bodyPr wrap="square" lIns="45719" tIns="45719" rIns="45719" bIns="45719" numCol="1" anchor="ctr">
              <a:spAutoFit/>
            </a:bodyPr>
            <a:lstStyle>
              <a:lvl1pPr algn="ctr">
                <a:defRPr sz="2800" b="1">
                  <a:solidFill>
                    <a:srgbClr val="FFFFFF"/>
                  </a:solidFill>
                </a:defRPr>
              </a:lvl1pPr>
            </a:lstStyle>
            <a:p>
              <a:r>
                <a:rPr lang="en-IN" dirty="0"/>
                <a:t>MODULE 4</a:t>
              </a:r>
              <a:endParaRPr dirty="0"/>
            </a:p>
          </p:txBody>
        </p:sp>
      </p:grpSp>
      <p:sp>
        <p:nvSpPr>
          <p:cNvPr id="7" name="TextBox 6">
            <a:extLst>
              <a:ext uri="{FF2B5EF4-FFF2-40B4-BE49-F238E27FC236}">
                <a16:creationId xmlns:a16="http://schemas.microsoft.com/office/drawing/2014/main" id="{7C6ED4FA-F4D3-3A92-F222-B6318E3600EE}"/>
              </a:ext>
            </a:extLst>
          </p:cNvPr>
          <p:cNvSpPr txBox="1"/>
          <p:nvPr/>
        </p:nvSpPr>
        <p:spPr>
          <a:xfrm>
            <a:off x="0" y="339242"/>
            <a:ext cx="5820697" cy="769441"/>
          </a:xfrm>
          <a:prstGeom prst="rect">
            <a:avLst/>
          </a:prstGeom>
          <a:noFill/>
        </p:spPr>
        <p:txBody>
          <a:bodyPr wrap="square">
            <a:spAutoFit/>
          </a:bodyPr>
          <a:lstStyle/>
          <a:p>
            <a:r>
              <a:rPr lang="en-US" sz="2200" dirty="0">
                <a:latin typeface="Algerian" panose="04020705040A02060702" pitchFamily="82" charset="0"/>
                <a:cs typeface="Times New Roman" panose="02020603050405020304" pitchFamily="18" charset="0"/>
              </a:rPr>
              <a:t>ADMIN CONTROL &amp; SYSTEM MONITORING HUB</a:t>
            </a:r>
            <a:endParaRPr lang="en-IN" sz="2200" dirty="0">
              <a:latin typeface="Algerian" panose="04020705040A02060702" pitchFamily="82" charset="0"/>
            </a:endParaRPr>
          </a:p>
        </p:txBody>
      </p:sp>
    </p:spTree>
    <p:extLst>
      <p:ext uri="{BB962C8B-B14F-4D97-AF65-F5344CB8AC3E}">
        <p14:creationId xmlns:p14="http://schemas.microsoft.com/office/powerpoint/2010/main" val="3438383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CCDE43-90D5-3D14-E8CC-544805D248A3}"/>
              </a:ext>
            </a:extLst>
          </p:cNvPr>
          <p:cNvPicPr>
            <a:picLocks noChangeAspect="1"/>
          </p:cNvPicPr>
          <p:nvPr/>
        </p:nvPicPr>
        <p:blipFill>
          <a:blip r:embed="rId2"/>
          <a:stretch>
            <a:fillRect/>
          </a:stretch>
        </p:blipFill>
        <p:spPr>
          <a:xfrm>
            <a:off x="624349" y="492842"/>
            <a:ext cx="7620000" cy="5715000"/>
          </a:xfrm>
          <a:prstGeom prst="rect">
            <a:avLst/>
          </a:prstGeom>
        </p:spPr>
      </p:pic>
    </p:spTree>
    <p:extLst>
      <p:ext uri="{BB962C8B-B14F-4D97-AF65-F5344CB8AC3E}">
        <p14:creationId xmlns:p14="http://schemas.microsoft.com/office/powerpoint/2010/main" val="3153192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F4889A-3A3B-9AC5-29A5-B045C1DE60EC}"/>
              </a:ext>
            </a:extLst>
          </p:cNvPr>
          <p:cNvPicPr>
            <a:picLocks noChangeAspect="1"/>
          </p:cNvPicPr>
          <p:nvPr/>
        </p:nvPicPr>
        <p:blipFill>
          <a:blip r:embed="rId2"/>
          <a:stretch>
            <a:fillRect/>
          </a:stretch>
        </p:blipFill>
        <p:spPr>
          <a:xfrm>
            <a:off x="658761" y="1526151"/>
            <a:ext cx="7826477" cy="4061337"/>
          </a:xfrm>
          <a:prstGeom prst="rect">
            <a:avLst/>
          </a:prstGeom>
        </p:spPr>
      </p:pic>
    </p:spTree>
    <p:extLst>
      <p:ext uri="{BB962C8B-B14F-4D97-AF65-F5344CB8AC3E}">
        <p14:creationId xmlns:p14="http://schemas.microsoft.com/office/powerpoint/2010/main" val="1445902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CEF57-0EF5-B6BE-9D8C-3162D3BDD535}"/>
            </a:ext>
          </a:extLst>
        </p:cNvPr>
        <p:cNvGrpSpPr/>
        <p:nvPr/>
      </p:nvGrpSpPr>
      <p:grpSpPr>
        <a:xfrm>
          <a:off x="0" y="0"/>
          <a:ext cx="0" cy="0"/>
          <a:chOff x="0" y="0"/>
          <a:chExt cx="0" cy="0"/>
        </a:xfrm>
      </p:grpSpPr>
      <p:grpSp>
        <p:nvGrpSpPr>
          <p:cNvPr id="131" name="Group">
            <a:extLst>
              <a:ext uri="{FF2B5EF4-FFF2-40B4-BE49-F238E27FC236}">
                <a16:creationId xmlns:a16="http://schemas.microsoft.com/office/drawing/2014/main" id="{B3F6A340-A6D4-DED4-0E28-87F9822C0389}"/>
              </a:ext>
            </a:extLst>
          </p:cNvPr>
          <p:cNvGrpSpPr/>
          <p:nvPr/>
        </p:nvGrpSpPr>
        <p:grpSpPr>
          <a:xfrm>
            <a:off x="990600" y="2362200"/>
            <a:ext cx="7010400" cy="1600200"/>
            <a:chOff x="0" y="0"/>
            <a:chExt cx="7010400" cy="1600200"/>
          </a:xfrm>
        </p:grpSpPr>
        <p:sp>
          <p:nvSpPr>
            <p:cNvPr id="129" name="Rectangle">
              <a:extLst>
                <a:ext uri="{FF2B5EF4-FFF2-40B4-BE49-F238E27FC236}">
                  <a16:creationId xmlns:a16="http://schemas.microsoft.com/office/drawing/2014/main" id="{FF536C58-2665-16BC-3C98-C8966ECA63DE}"/>
                </a:ext>
              </a:extLst>
            </p:cNvPr>
            <p:cNvSpPr/>
            <p:nvPr/>
          </p:nvSpPr>
          <p:spPr>
            <a:xfrm>
              <a:off x="0" y="0"/>
              <a:ext cx="7010400" cy="1600200"/>
            </a:xfrm>
            <a:prstGeom prst="rect">
              <a:avLst/>
            </a:prstGeom>
            <a:solidFill>
              <a:schemeClr val="accent5"/>
            </a:solidFill>
            <a:ln w="25400" cap="flat">
              <a:solidFill>
                <a:srgbClr val="385D8A"/>
              </a:solidFill>
              <a:prstDash val="solid"/>
              <a:round/>
            </a:ln>
            <a:effectLst/>
          </p:spPr>
          <p:txBody>
            <a:bodyPr wrap="square" lIns="45719" tIns="45719" rIns="45719" bIns="45719" numCol="1" anchor="ctr">
              <a:noAutofit/>
            </a:bodyPr>
            <a:lstStyle/>
            <a:p>
              <a:pPr algn="ctr">
                <a:defRPr sz="3200" b="1"/>
              </a:pPr>
              <a:endParaRPr dirty="0"/>
            </a:p>
          </p:txBody>
        </p:sp>
        <p:sp>
          <p:nvSpPr>
            <p:cNvPr id="130" name="THANK YOU">
              <a:extLst>
                <a:ext uri="{FF2B5EF4-FFF2-40B4-BE49-F238E27FC236}">
                  <a16:creationId xmlns:a16="http://schemas.microsoft.com/office/drawing/2014/main" id="{33B1D1B8-0CB8-9B6E-9790-6EA79638A0CC}"/>
                </a:ext>
              </a:extLst>
            </p:cNvPr>
            <p:cNvSpPr txBox="1"/>
            <p:nvPr/>
          </p:nvSpPr>
          <p:spPr>
            <a:xfrm>
              <a:off x="0" y="528062"/>
              <a:ext cx="7010400" cy="544076"/>
            </a:xfrm>
            <a:prstGeom prst="rect">
              <a:avLst/>
            </a:prstGeom>
            <a:noFill/>
            <a:ln w="12700" cap="flat">
              <a:noFill/>
              <a:miter lim="400000"/>
            </a:ln>
            <a:effectLst/>
          </p:spPr>
          <p:txBody>
            <a:bodyPr wrap="square" lIns="45719" tIns="45719" rIns="45719" bIns="45719" numCol="1" anchor="ctr">
              <a:spAutoFit/>
            </a:bodyPr>
            <a:lstStyle>
              <a:lvl1pPr algn="ctr">
                <a:defRPr sz="3200" b="1"/>
              </a:lvl1pPr>
            </a:lstStyle>
            <a:p>
              <a:r>
                <a:t>THANK YOU</a:t>
              </a:r>
            </a:p>
          </p:txBody>
        </p:sp>
      </p:grpSp>
    </p:spTree>
    <p:extLst>
      <p:ext uri="{BB962C8B-B14F-4D97-AF65-F5344CB8AC3E}">
        <p14:creationId xmlns:p14="http://schemas.microsoft.com/office/powerpoint/2010/main" val="21731348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Times New Roman" panose="02020603050405020304"/>
            <a:ea typeface="Times New Roman" panose="02020603050405020304"/>
            <a:cs typeface="Times New Roman" panose="02020603050405020304"/>
            <a:sym typeface="Times New Roman" panose="020206030504050203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Times New Roman" panose="02020603050405020304"/>
            <a:ea typeface="Times New Roman" panose="02020603050405020304"/>
            <a:cs typeface="Times New Roman" panose="02020603050405020304"/>
            <a:sym typeface="Times New Roman" panose="020206030504050203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336</TotalTime>
  <Words>1159</Words>
  <Application>Microsoft Office PowerPoint</Application>
  <PresentationFormat>On-screen Show (4:3)</PresentationFormat>
  <Paragraphs>108</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Algerian</vt:lpstr>
      <vt:lpstr>Arial</vt:lpstr>
      <vt:lpstr>Calibri</vt:lpstr>
      <vt:lpstr>Calibri Light</vt:lpstr>
      <vt:lpstr>Century Schoolbook</vt:lpstr>
      <vt:lpstr>Helvetica Neue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VANI</dc:creator>
  <cp:lastModifiedBy>santhosh g</cp:lastModifiedBy>
  <cp:revision>33</cp:revision>
  <dcterms:created xsi:type="dcterms:W3CDTF">2026-01-29T06:19:00Z</dcterms:created>
  <dcterms:modified xsi:type="dcterms:W3CDTF">2026-04-08T17:00:07Z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164130A7CC464348AE5A029E6BDFD48A_13</vt:lpwstr>
  </property>
  <property fmtid="{D5CDD505-2E9C-101B-9397-08002B2CF9AE}" pid="3" name="KSOProductBuildVer">
    <vt:lpwstr>1033-12.2.0.23196</vt:lpwstr>
  </property>
</Properties>
</file>